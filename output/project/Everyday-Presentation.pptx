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D0704C-4F69-4DB8-90C2-4E6386F2FF99}" type="datetimeFigureOut">
              <a:rPr lang="en-IN" smtClean="0"/>
              <a:t>11-10-2026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A4D15-9183-464B-9F68-ED025386A68F}" type="slidenum">
              <a:rPr lang="en-IN" smtClean="0"/>
              <a:t>‹#›</a:t>
            </a:fld>
            <a:endParaRPr lang="en-IN"/>
          </a:p>
        </p:txBody>
      </p:sp>
    </p:spTree>
    <p:extLst>
      <p:ext uri="{BB962C8B-B14F-4D97-AF65-F5344CB8AC3E}">
        <p14:creationId xmlns:p14="http://schemas.microsoft.com/office/powerpoint/2010/main" val="2047810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repository implementation snapshot, 11 October 2026. The illustration is AI-generated concept artwork, not a photograph of actual inventory. Source prompt is saved in docs/project/Everyday-Artwork-Prompt.txt. The app currently uses decorative initials for product cards.</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1</a:t>
            </a:fld>
            <a:endParaRPr lang="en-IN"/>
          </a:p>
        </p:txBody>
      </p:sp>
    </p:spTree>
    <p:extLst>
      <p:ext uri="{BB962C8B-B14F-4D97-AF65-F5344CB8AC3E}">
        <p14:creationId xmlns:p14="http://schemas.microsoft.com/office/powerpoint/2010/main" val="391388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frontend/public/app.js; backend/app/routers/auth.py, cart.py, orders.py, chat.py. Checkout creates an unpaid order. Payments, fulfillment, and stock reservation are absent.</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2</a:t>
            </a:fld>
            <a:endParaRPr lang="en-IN"/>
          </a:p>
        </p:txBody>
      </p:sp>
    </p:spTree>
    <p:extLst>
      <p:ext uri="{BB962C8B-B14F-4D97-AF65-F5344CB8AC3E}">
        <p14:creationId xmlns:p14="http://schemas.microsoft.com/office/powerpoint/2010/main" val="1461521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Sources: frontend/server.mjs; backend/app/main.py; database.py; ai/agent.py; ai/rag.py. FAISS is local; configured chat/embedding providers may be external. Agent tools query SQLite through their own sessions.</a:t>
            </a:r>
          </a:p>
        </p:txBody>
      </p:sp>
      <p:sp>
        <p:nvSpPr>
          <p:cNvPr id="4" name="Slide Number Placeholder 3"/>
          <p:cNvSpPr>
            <a:spLocks noGrp="1"/>
          </p:cNvSpPr>
          <p:nvPr>
            <p:ph type="sldNum" sz="quarter" idx="5"/>
          </p:nvPr>
        </p:nvSpPr>
        <p:spPr/>
        <p:txBody>
          <a:bodyPr/>
          <a:lstStyle/>
          <a:p>
            <a:fld id="{41FA4D15-9183-464B-9F68-ED025386A68F}" type="slidenum">
              <a:rPr lang="en-IN" smtClean="0"/>
              <a:t>3</a:t>
            </a:fld>
            <a:endParaRPr lang="en-IN"/>
          </a:p>
        </p:txBody>
      </p:sp>
    </p:spTree>
    <p:extLst>
      <p:ext uri="{BB962C8B-B14F-4D97-AF65-F5344CB8AC3E}">
        <p14:creationId xmlns:p14="http://schemas.microsoft.com/office/powerpoint/2010/main" val="2044200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repository structure. Other locations are relative to backend/app. Services are reused by HTTP endpoints and model tools.</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4</a:t>
            </a:fld>
            <a:endParaRPr lang="en-IN"/>
          </a:p>
        </p:txBody>
      </p:sp>
    </p:spTree>
    <p:extLst>
      <p:ext uri="{BB962C8B-B14F-4D97-AF65-F5344CB8AC3E}">
        <p14:creationId xmlns:p14="http://schemas.microsoft.com/office/powerpoint/2010/main" val="2130773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Sources: backend/app/models/user.py, product.py, cart.py, order.py. Unique pairs: cart(user_id,product_id), order(user_id,checkout_key). order_items.product_id is intentionally a snapshot rather than a product foreign key. All currency uses integer paise. Full field definitions are in the LLD.</a:t>
            </a:r>
          </a:p>
        </p:txBody>
      </p:sp>
      <p:sp>
        <p:nvSpPr>
          <p:cNvPr id="4" name="Slide Number Placeholder 3"/>
          <p:cNvSpPr>
            <a:spLocks noGrp="1"/>
          </p:cNvSpPr>
          <p:nvPr>
            <p:ph type="sldNum" sz="quarter" idx="5"/>
          </p:nvPr>
        </p:nvSpPr>
        <p:spPr/>
        <p:txBody>
          <a:bodyPr/>
          <a:lstStyle/>
          <a:p>
            <a:fld id="{41FA4D15-9183-464B-9F68-ED025386A68F}" type="slidenum">
              <a:rPr lang="en-IN" smtClean="0"/>
              <a:t>5</a:t>
            </a:fld>
            <a:endParaRPr lang="en-IN"/>
          </a:p>
        </p:txBody>
      </p:sp>
    </p:spTree>
    <p:extLst>
      <p:ext uri="{BB962C8B-B14F-4D97-AF65-F5344CB8AC3E}">
        <p14:creationId xmlns:p14="http://schemas.microsoft.com/office/powerpoint/2010/main" val="834145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backend/app/core/security.py, dependencies.py, config.py; routers/auth.py. Local sign-out clears tab state without backend token revocation. Product create/delete endpoints currently have no administrator protection.</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6</a:t>
            </a:fld>
            <a:endParaRPr lang="en-IN"/>
          </a:p>
        </p:txBody>
      </p:sp>
    </p:spTree>
    <p:extLst>
      <p:ext uri="{BB962C8B-B14F-4D97-AF65-F5344CB8AC3E}">
        <p14:creationId xmlns:p14="http://schemas.microsoft.com/office/powerpoint/2010/main" val="207112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backend/app/services/sample_catalog.py; database.py. These are presentation groups, not implemented category fields. Speaker is out of stock. Prices are demo values. Deleted or renamed samples may be reintroduced on the next startup. Tests for seeding were added but were not executed in the prior turn.</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7</a:t>
            </a:fld>
            <a:endParaRPr lang="en-IN"/>
          </a:p>
        </p:txBody>
      </p:sp>
    </p:spTree>
    <p:extLst>
      <p:ext uri="{BB962C8B-B14F-4D97-AF65-F5344CB8AC3E}">
        <p14:creationId xmlns:p14="http://schemas.microsoft.com/office/powerpoint/2010/main" val="1004607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backend/app/services/cart.py; schemas/cart.py; routers/cart.py. Cart data is persisted in SQLite. Current prices are estimates, not reservations. Missing product details/subtotals are null and excluded from totals.</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8</a:t>
            </a:fld>
            <a:endParaRPr lang="en-IN"/>
          </a:p>
        </p:txBody>
      </p:sp>
    </p:spTree>
    <p:extLst>
      <p:ext uri="{BB962C8B-B14F-4D97-AF65-F5344CB8AC3E}">
        <p14:creationId xmlns:p14="http://schemas.microsoft.com/office/powerpoint/2010/main" val="4091583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backend/app/routers/chat.py; services/chat.py; ai/agent.py; ai/tools.py; frontend/public/app.js. Explicit-request behavior is instructed in the model prompt; hard checks enforce user identity, stock and bounds. Per-turn duplicate calls for one product reuse the first success. Separate HTTP retries can add again. A committed write may survive a failed model reply; the UI asks the shopper to check the bag before retrying.</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9</a:t>
            </a:fld>
            <a:endParaRPr lang="en-IN"/>
          </a:p>
        </p:txBody>
      </p:sp>
    </p:spTree>
    <p:extLst>
      <p:ext uri="{BB962C8B-B14F-4D97-AF65-F5344CB8AC3E}">
        <p14:creationId xmlns:p14="http://schemas.microsoft.com/office/powerpoint/2010/main" val="2124654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Sources: frontend/public/app.js; backend/app/schemas/chat.py; services/chat.py; ai/ingest.py, rag.py, tools.py. Context entries are limited to 2,000 characters; assistant context is truncated. Only user/assistant roles are accepted. Visible bubbles may include more than 12 messages. FAISS loads only a trusted locally generated index; the model/embedding providers are separately configured.</a:t>
            </a:r>
          </a:p>
        </p:txBody>
      </p:sp>
      <p:sp>
        <p:nvSpPr>
          <p:cNvPr id="4" name="Slide Number Placeholder 3"/>
          <p:cNvSpPr>
            <a:spLocks noGrp="1"/>
          </p:cNvSpPr>
          <p:nvPr>
            <p:ph type="sldNum" sz="quarter" idx="5"/>
          </p:nvPr>
        </p:nvSpPr>
        <p:spPr/>
        <p:txBody>
          <a:bodyPr/>
          <a:lstStyle/>
          <a:p>
            <a:fld id="{41FA4D15-9183-464B-9F68-ED025386A68F}" type="slidenum">
              <a:rPr lang="en-IN" smtClean="0"/>
              <a:t>10</a:t>
            </a:fld>
            <a:endParaRPr lang="en-IN"/>
          </a:p>
        </p:txBody>
      </p:sp>
    </p:spTree>
    <p:extLst>
      <p:ext uri="{BB962C8B-B14F-4D97-AF65-F5344CB8AC3E}">
        <p14:creationId xmlns:p14="http://schemas.microsoft.com/office/powerpoint/2010/main" val="3026664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Sources: backend/app/services/orders.py; schemas/order.py; models/order.py; frontend/public/app.js. Request payload is canonically hashed. Same key with a different payload is 409. Empty, changed, missing or unavailable cart items cause conflict. Maximum 200 unique reviewed products. No payment, stock reservation, delivery or shipping/tax quote occurs.</a:t>
            </a:r>
          </a:p>
        </p:txBody>
      </p:sp>
      <p:sp>
        <p:nvSpPr>
          <p:cNvPr id="4" name="Slide Number Placeholder 3"/>
          <p:cNvSpPr>
            <a:spLocks noGrp="1"/>
          </p:cNvSpPr>
          <p:nvPr>
            <p:ph type="sldNum" sz="quarter" idx="5"/>
          </p:nvPr>
        </p:nvSpPr>
        <p:spPr/>
        <p:txBody>
          <a:bodyPr/>
          <a:lstStyle/>
          <a:p>
            <a:fld id="{41FA4D15-9183-464B-9F68-ED025386A68F}" type="slidenum">
              <a:rPr lang="en-IN" smtClean="0"/>
              <a:t>11</a:t>
            </a:fld>
            <a:endParaRPr lang="en-IN"/>
          </a:p>
        </p:txBody>
      </p:sp>
    </p:spTree>
    <p:extLst>
      <p:ext uri="{BB962C8B-B14F-4D97-AF65-F5344CB8AC3E}">
        <p14:creationId xmlns:p14="http://schemas.microsoft.com/office/powerpoint/2010/main" val="2101248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frontend/server.mjs; frontend/public/app.js; backend/app/routers/* and schemas/*. Agent cart-tool failures are structured tool results; they do not necessarily become HTTP 409 at /chat. Chat route timeout 45 seconds, proxy 50, browser 60; model timeout 30 with one retry.</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12</a:t>
            </a:fld>
            <a:endParaRPr lang="en-IN"/>
          </a:p>
        </p:txBody>
      </p:sp>
    </p:spTree>
    <p:extLst>
      <p:ext uri="{BB962C8B-B14F-4D97-AF65-F5344CB8AC3E}">
        <p14:creationId xmlns:p14="http://schemas.microsoft.com/office/powerpoint/2010/main" val="726535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repository implementation and docs/project/Everyday-LLD.md. Future items are not implemented. Current product POST/DELETE routes lack admin authorization. Backend unittest and frontend Node/jsdom coverage exist; no new test pass count is asserted in this deck.</a:t>
            </a:r>
            <a:endParaRPr lang="en-IN"/>
          </a:p>
        </p:txBody>
      </p:sp>
      <p:sp>
        <p:nvSpPr>
          <p:cNvPr id="4" name="Slide Number Placeholder 3"/>
          <p:cNvSpPr>
            <a:spLocks noGrp="1"/>
          </p:cNvSpPr>
          <p:nvPr>
            <p:ph type="sldNum" sz="quarter" idx="5"/>
          </p:nvPr>
        </p:nvSpPr>
        <p:spPr/>
        <p:txBody>
          <a:bodyPr/>
          <a:lstStyle/>
          <a:p>
            <a:fld id="{41FA4D15-9183-464B-9F68-ED025386A68F}" type="slidenum">
              <a:rPr lang="en-IN" smtClean="0"/>
              <a:t>13</a:t>
            </a:fld>
            <a:endParaRPr lang="en-IN"/>
          </a:p>
        </p:txBody>
      </p:sp>
    </p:spTree>
    <p:extLst>
      <p:ext uri="{BB962C8B-B14F-4D97-AF65-F5344CB8AC3E}">
        <p14:creationId xmlns:p14="http://schemas.microsoft.com/office/powerpoint/2010/main" val="2387187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FD28-B9E7-503F-3445-CFC2352F98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A6FBCB-31E7-6213-2F11-A03BF7F4F4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031A06-66F8-EF82-456B-3092FBA30C31}"/>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5" name="Footer Placeholder 4">
            <a:extLst>
              <a:ext uri="{FF2B5EF4-FFF2-40B4-BE49-F238E27FC236}">
                <a16:creationId xmlns:a16="http://schemas.microsoft.com/office/drawing/2014/main" id="{07640D23-86A6-FB8E-E24A-75DF7AB7A9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B62F2B-90F9-00C3-EC40-D3241EDEC573}"/>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3414553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2900A-B92C-0AEA-6D32-B3E10BFD6A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3C8A32-BEDC-3823-405E-BAE52A5258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B34734-4A76-713B-DB57-786B28AB3439}"/>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5" name="Footer Placeholder 4">
            <a:extLst>
              <a:ext uri="{FF2B5EF4-FFF2-40B4-BE49-F238E27FC236}">
                <a16:creationId xmlns:a16="http://schemas.microsoft.com/office/drawing/2014/main" id="{4FB4332D-64A6-7341-15EA-69EF7DD9C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3D2F18-99DD-FE0F-1DCC-C73A6BC7C384}"/>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927382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BD851-1551-723D-CB71-42A5604068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E38101-8BFD-FC4D-1EF1-45364E6EC6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3DD727-5F21-55C2-8A29-1209087C928E}"/>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5" name="Footer Placeholder 4">
            <a:extLst>
              <a:ext uri="{FF2B5EF4-FFF2-40B4-BE49-F238E27FC236}">
                <a16:creationId xmlns:a16="http://schemas.microsoft.com/office/drawing/2014/main" id="{D2F268D4-B1EE-CCE2-D213-50F8DA8A74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354B25-E684-4B20-4B7E-D22B04DDA1E3}"/>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4121912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4DEC7-8BBA-3D68-1389-BA81B62150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801D64-4C5E-EF9D-B8EB-5930F56837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B5A30E5-23A6-9DD2-BC01-06969FF41E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14D186-743E-DD01-C710-30F83AAD5B31}"/>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6" name="Footer Placeholder 5">
            <a:extLst>
              <a:ext uri="{FF2B5EF4-FFF2-40B4-BE49-F238E27FC236}">
                <a16:creationId xmlns:a16="http://schemas.microsoft.com/office/drawing/2014/main" id="{21B423CD-DF24-C8EC-D15C-EC24962E24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083AAC-BECD-DBC6-F876-9EA0D6FD0F5B}"/>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923377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936F-32FC-1DB6-8187-265D7168A9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04060E-ADBB-1615-66B9-0D73832503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12B1EC-9DD0-575F-5F53-E80F44D5EF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879F50-4755-B42C-6EAF-9AFECADBAB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E36257-80BE-4ED2-16C6-9B53FFD54C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8C0B8F-1691-FD43-27BE-F59B440C8926}"/>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8" name="Footer Placeholder 7">
            <a:extLst>
              <a:ext uri="{FF2B5EF4-FFF2-40B4-BE49-F238E27FC236}">
                <a16:creationId xmlns:a16="http://schemas.microsoft.com/office/drawing/2014/main" id="{5BE05350-10B1-B756-5AB1-217D25D786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196BA2-4741-0657-CE8F-3260AAEDF93B}"/>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493450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18ECF-DAD9-D85B-B7AB-EEA65D2EB7C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DED24B-6F8F-DB85-F3E1-09B66F623F1C}"/>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4" name="Footer Placeholder 3">
            <a:extLst>
              <a:ext uri="{FF2B5EF4-FFF2-40B4-BE49-F238E27FC236}">
                <a16:creationId xmlns:a16="http://schemas.microsoft.com/office/drawing/2014/main" id="{EF097026-AEC6-25F1-E374-5B19AB7F15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051353-F31C-0F16-64C8-87D0BEFDC56A}"/>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1612199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C0B952-2B57-1B26-CB73-D800BB66ADCF}"/>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3" name="Footer Placeholder 2">
            <a:extLst>
              <a:ext uri="{FF2B5EF4-FFF2-40B4-BE49-F238E27FC236}">
                <a16:creationId xmlns:a16="http://schemas.microsoft.com/office/drawing/2014/main" id="{20F7E138-B927-F24A-B6E7-1361FC1E8E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609A84-5A14-2A0F-3496-B2B9ADBA6B6B}"/>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931192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7DF7-17D4-C291-D131-C2E82781B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ED84964-13C9-E0F6-1319-FB4E86B494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F2B076-60B5-F62B-2B31-00F3CAF0DF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3C968-B568-F0BA-E39B-D067A09B182D}"/>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6" name="Footer Placeholder 5">
            <a:extLst>
              <a:ext uri="{FF2B5EF4-FFF2-40B4-BE49-F238E27FC236}">
                <a16:creationId xmlns:a16="http://schemas.microsoft.com/office/drawing/2014/main" id="{DA167277-595C-35D8-0D97-AA6E1285D7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F1F640-D700-0FEA-C035-7985847A1679}"/>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1410861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D168E-ADE8-ABCA-9BA2-286A92A584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40714B-1FA1-E6C1-611F-1E91DD57710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3B7B3A-0C72-553C-7E7B-56F5C838F4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B8DF08-19A3-61B6-5029-7A2645557BE6}"/>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6" name="Footer Placeholder 5">
            <a:extLst>
              <a:ext uri="{FF2B5EF4-FFF2-40B4-BE49-F238E27FC236}">
                <a16:creationId xmlns:a16="http://schemas.microsoft.com/office/drawing/2014/main" id="{22310A80-D74B-CAA2-47DE-CAC5EBFBAC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8DC6D9-613E-914F-6714-20B1D8B0A5A3}"/>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2929753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21475-6A81-AC7B-A982-331696EE3F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64FF52-3591-449B-70BA-19F79E664F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0726A-06A5-F755-49C3-3D93423ED401}"/>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5" name="Footer Placeholder 4">
            <a:extLst>
              <a:ext uri="{FF2B5EF4-FFF2-40B4-BE49-F238E27FC236}">
                <a16:creationId xmlns:a16="http://schemas.microsoft.com/office/drawing/2014/main" id="{80607CE9-62EA-1FD6-366F-ADEEB5780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887AFB-B7B4-0971-42E1-9049A8BD6ADF}"/>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625078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7C71C5-B9EE-79CD-817D-D11B1F9C84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BC1768-829F-D977-E828-5631CC6CB8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020883-C424-901D-462A-53814B748E58}"/>
              </a:ext>
            </a:extLst>
          </p:cNvPr>
          <p:cNvSpPr>
            <a:spLocks noGrp="1"/>
          </p:cNvSpPr>
          <p:nvPr>
            <p:ph type="dt" sz="half" idx="10"/>
          </p:nvPr>
        </p:nvSpPr>
        <p:spPr/>
        <p:txBody>
          <a:bodyPr/>
          <a:lstStyle/>
          <a:p>
            <a:fld id="{C01CFCBC-9208-4729-8721-637B327DB2AE}" type="datetimeFigureOut">
              <a:rPr lang="en-IN" smtClean="0"/>
              <a:t>11-10-2026</a:t>
            </a:fld>
            <a:endParaRPr lang="en-IN"/>
          </a:p>
        </p:txBody>
      </p:sp>
      <p:sp>
        <p:nvSpPr>
          <p:cNvPr id="5" name="Footer Placeholder 4">
            <a:extLst>
              <a:ext uri="{FF2B5EF4-FFF2-40B4-BE49-F238E27FC236}">
                <a16:creationId xmlns:a16="http://schemas.microsoft.com/office/drawing/2014/main" id="{3BECD2C5-233B-028E-6782-BE82497B2F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DD9A07-6A44-997F-5808-8AEAE4DF0956}"/>
              </a:ext>
            </a:extLst>
          </p:cNvPr>
          <p:cNvSpPr>
            <a:spLocks noGrp="1"/>
          </p:cNvSpPr>
          <p:nvPr>
            <p:ph type="sldNum" sz="quarter" idx="12"/>
          </p:nvPr>
        </p:nvSpPr>
        <p:spPr/>
        <p:txBody>
          <a:bodyPr/>
          <a:lstStyle/>
          <a:p>
            <a:fld id="{D3158748-52F4-4A58-80FA-53560599D8ED}" type="slidenum">
              <a:rPr lang="en-IN" smtClean="0"/>
              <a:t>‹#›</a:t>
            </a:fld>
            <a:endParaRPr lang="en-IN"/>
          </a:p>
        </p:txBody>
      </p:sp>
    </p:spTree>
    <p:extLst>
      <p:ext uri="{BB962C8B-B14F-4D97-AF65-F5344CB8AC3E}">
        <p14:creationId xmlns:p14="http://schemas.microsoft.com/office/powerpoint/2010/main" val="215386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01D63C-7442-87EA-05C7-EE95933422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18CEEC-46D1-23E4-E37B-BD424423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55B2D8-F1AC-69A5-D69B-1A3D1511FB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1CFCBC-9208-4729-8721-637B327DB2AE}" type="datetimeFigureOut">
              <a:rPr lang="en-IN" smtClean="0"/>
              <a:t>11-10-2026</a:t>
            </a:fld>
            <a:endParaRPr lang="en-IN"/>
          </a:p>
        </p:txBody>
      </p:sp>
      <p:sp>
        <p:nvSpPr>
          <p:cNvPr id="5" name="Footer Placeholder 4">
            <a:extLst>
              <a:ext uri="{FF2B5EF4-FFF2-40B4-BE49-F238E27FC236}">
                <a16:creationId xmlns:a16="http://schemas.microsoft.com/office/drawing/2014/main" id="{570C38F4-C072-7F80-24E3-9C5AD61456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572A9F-25CE-512A-40A3-82C94BFF47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158748-52F4-4A58-80FA-53560599D8ED}" type="slidenum">
              <a:rPr lang="en-IN" smtClean="0"/>
              <a:t>‹#›</a:t>
            </a:fld>
            <a:endParaRPr lang="en-IN"/>
          </a:p>
        </p:txBody>
      </p:sp>
    </p:spTree>
    <p:extLst>
      <p:ext uri="{BB962C8B-B14F-4D97-AF65-F5344CB8AC3E}">
        <p14:creationId xmlns:p14="http://schemas.microsoft.com/office/powerpoint/2010/main" val="578600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A3F692-ACCF-8626-D825-8E7ACA71EEF3}"/>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3" name="TextBox 2">
            <a:extLst>
              <a:ext uri="{FF2B5EF4-FFF2-40B4-BE49-F238E27FC236}">
                <a16:creationId xmlns:a16="http://schemas.microsoft.com/office/drawing/2014/main" id="{AB44CE09-D846-BCBA-04AD-86C8AD8AC36A}"/>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01</a:t>
            </a:r>
          </a:p>
        </p:txBody>
      </p:sp>
      <p:pic>
        <p:nvPicPr>
          <p:cNvPr id="5" name="Picture 4">
            <a:extLst>
              <a:ext uri="{FF2B5EF4-FFF2-40B4-BE49-F238E27FC236}">
                <a16:creationId xmlns:a16="http://schemas.microsoft.com/office/drawing/2014/main" id="{CD252AF2-3DAA-A299-8942-FE5F480E7F8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B20DFED6-DBC7-F658-3842-C8A73C7503E7}"/>
              </a:ext>
            </a:extLst>
          </p:cNvPr>
          <p:cNvSpPr txBox="1"/>
          <p:nvPr/>
        </p:nvSpPr>
        <p:spPr>
          <a:xfrm>
            <a:off x="609600" y="927100"/>
            <a:ext cx="7239000" cy="276999"/>
          </a:xfrm>
          <a:prstGeom prst="rect">
            <a:avLst/>
          </a:prstGeom>
          <a:noFill/>
        </p:spPr>
        <p:txBody>
          <a:bodyPr vert="horz" wrap="square" lIns="0" tIns="0" rIns="0" bIns="0" rtlCol="0">
            <a:noAutofit/>
          </a:bodyPr>
          <a:lstStyle/>
          <a:p>
            <a:pPr>
              <a:spcAft>
                <a:spcPts val="800"/>
              </a:spcAft>
            </a:pPr>
            <a:r>
              <a:rPr lang="en-IN" sz="6400" b="1">
                <a:solidFill>
                  <a:srgbClr val="24342C"/>
                </a:solidFill>
                <a:latin typeface="Segoe UI" panose="020B0502040204020203" pitchFamily="34" charset="0"/>
              </a:rPr>
              <a:t>Everyday</a:t>
            </a:r>
          </a:p>
        </p:txBody>
      </p:sp>
      <p:sp>
        <p:nvSpPr>
          <p:cNvPr id="7" name="TextBox 6">
            <a:extLst>
              <a:ext uri="{FF2B5EF4-FFF2-40B4-BE49-F238E27FC236}">
                <a16:creationId xmlns:a16="http://schemas.microsoft.com/office/drawing/2014/main" id="{8C7C4B6F-0BD8-90DB-99D0-E1BE1A90A6DF}"/>
              </a:ext>
            </a:extLst>
          </p:cNvPr>
          <p:cNvSpPr txBox="1"/>
          <p:nvPr/>
        </p:nvSpPr>
        <p:spPr>
          <a:xfrm>
            <a:off x="647700" y="2235200"/>
            <a:ext cx="5715000" cy="276999"/>
          </a:xfrm>
          <a:prstGeom prst="rect">
            <a:avLst/>
          </a:prstGeom>
          <a:noFill/>
        </p:spPr>
        <p:txBody>
          <a:bodyPr vert="horz" wrap="square" lIns="0" tIns="0" rIns="0" bIns="0" rtlCol="0">
            <a:noAutofit/>
          </a:bodyPr>
          <a:lstStyle/>
          <a:p>
            <a:pPr>
              <a:spcAft>
                <a:spcPts val="800"/>
              </a:spcAft>
            </a:pPr>
            <a:r>
              <a:rPr lang="en-US" sz="2900">
                <a:solidFill>
                  <a:srgbClr val="24342C"/>
                </a:solidFill>
                <a:latin typeface="Segoe UI" panose="020B0502040204020203" pitchFamily="34" charset="0"/>
              </a:rPr>
              <a:t>Ecommerce with an
AI shopping assistant</a:t>
            </a:r>
            <a:endParaRPr lang="en-IN" sz="2900">
              <a:solidFill>
                <a:srgbClr val="24342C"/>
              </a:solidFill>
              <a:latin typeface="Segoe UI" panose="020B0502040204020203" pitchFamily="34" charset="0"/>
            </a:endParaRPr>
          </a:p>
        </p:txBody>
      </p:sp>
      <p:sp>
        <p:nvSpPr>
          <p:cNvPr id="8" name="TextBox 7">
            <a:extLst>
              <a:ext uri="{FF2B5EF4-FFF2-40B4-BE49-F238E27FC236}">
                <a16:creationId xmlns:a16="http://schemas.microsoft.com/office/drawing/2014/main" id="{D16F76C0-B99D-B724-DD12-8AAEB0E7009F}"/>
              </a:ext>
            </a:extLst>
          </p:cNvPr>
          <p:cNvSpPr txBox="1"/>
          <p:nvPr/>
        </p:nvSpPr>
        <p:spPr>
          <a:xfrm>
            <a:off x="660400" y="3898900"/>
            <a:ext cx="330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Project overview and low-level design</a:t>
            </a:r>
            <a:endParaRPr lang="en-IN" sz="1900">
              <a:solidFill>
                <a:srgbClr val="5A655E"/>
              </a:solidFill>
              <a:latin typeface="Segoe UI" panose="020B0502040204020203" pitchFamily="34" charset="0"/>
            </a:endParaRPr>
          </a:p>
        </p:txBody>
      </p:sp>
      <p:sp>
        <p:nvSpPr>
          <p:cNvPr id="9" name="TextBox 8">
            <a:extLst>
              <a:ext uri="{FF2B5EF4-FFF2-40B4-BE49-F238E27FC236}">
                <a16:creationId xmlns:a16="http://schemas.microsoft.com/office/drawing/2014/main" id="{128F57D9-DD91-01B3-4735-FFB000716735}"/>
              </a:ext>
            </a:extLst>
          </p:cNvPr>
          <p:cNvSpPr txBox="1"/>
          <p:nvPr/>
        </p:nvSpPr>
        <p:spPr>
          <a:xfrm>
            <a:off x="660400" y="6083300"/>
            <a:ext cx="3556000" cy="276999"/>
          </a:xfrm>
          <a:prstGeom prst="rect">
            <a:avLst/>
          </a:prstGeom>
          <a:noFill/>
        </p:spPr>
        <p:txBody>
          <a:bodyPr vert="horz" wrap="square" lIns="0" tIns="0" rIns="0" bIns="0" rtlCol="0">
            <a:noAutofit/>
          </a:bodyPr>
          <a:lstStyle/>
          <a:p>
            <a:pPr>
              <a:spcAft>
                <a:spcPts val="800"/>
              </a:spcAft>
            </a:pPr>
            <a:r>
              <a:rPr lang="en-IN" sz="1300">
                <a:solidFill>
                  <a:srgbClr val="5A655E"/>
                </a:solidFill>
                <a:latin typeface="Segoe UI" panose="020B0502040204020203" pitchFamily="34" charset="0"/>
              </a:rPr>
              <a:t>11 October 2026</a:t>
            </a:r>
          </a:p>
        </p:txBody>
      </p:sp>
    </p:spTree>
    <p:extLst>
      <p:ext uri="{BB962C8B-B14F-4D97-AF65-F5344CB8AC3E}">
        <p14:creationId xmlns:p14="http://schemas.microsoft.com/office/powerpoint/2010/main" val="1020085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32FDC5-2EFA-C3A1-4DD5-A00FA0AF146E}"/>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Shopping journey</a:t>
            </a:r>
          </a:p>
        </p:txBody>
      </p:sp>
      <p:sp>
        <p:nvSpPr>
          <p:cNvPr id="3" name="TextBox 2">
            <a:extLst>
              <a:ext uri="{FF2B5EF4-FFF2-40B4-BE49-F238E27FC236}">
                <a16:creationId xmlns:a16="http://schemas.microsoft.com/office/drawing/2014/main" id="{52A0C4E8-6DC5-8723-3987-CDFA7A7AE7D8}"/>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Visitors browse; authenticated shoppers save products and create unpaid orders</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39088DFC-7C86-E71D-085A-B7594370ED97}"/>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78E00AC8-745F-E513-0A6D-85ECEB9412E9}"/>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02</a:t>
            </a:r>
          </a:p>
        </p:txBody>
      </p:sp>
      <p:sp>
        <p:nvSpPr>
          <p:cNvPr id="6" name="Rectangle 5">
            <a:extLst>
              <a:ext uri="{FF2B5EF4-FFF2-40B4-BE49-F238E27FC236}">
                <a16:creationId xmlns:a16="http://schemas.microsoft.com/office/drawing/2014/main" id="{53ECEF13-606E-4932-8163-91198448D309}"/>
              </a:ext>
            </a:extLst>
          </p:cNvPr>
          <p:cNvSpPr/>
          <p:nvPr/>
        </p:nvSpPr>
        <p:spPr>
          <a:xfrm>
            <a:off x="609600" y="2286000"/>
            <a:ext cx="2032000" cy="14986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32CC189-874A-1E84-34FF-5F4507C02832}"/>
              </a:ext>
            </a:extLst>
          </p:cNvPr>
          <p:cNvSpPr txBox="1"/>
          <p:nvPr/>
        </p:nvSpPr>
        <p:spPr>
          <a:xfrm>
            <a:off x="800100" y="2451100"/>
            <a:ext cx="1651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Browse</a:t>
            </a:r>
          </a:p>
        </p:txBody>
      </p:sp>
      <p:sp>
        <p:nvSpPr>
          <p:cNvPr id="8" name="TextBox 7">
            <a:extLst>
              <a:ext uri="{FF2B5EF4-FFF2-40B4-BE49-F238E27FC236}">
                <a16:creationId xmlns:a16="http://schemas.microsoft.com/office/drawing/2014/main" id="{96E23E4D-1835-691E-1A97-C15CD63CF917}"/>
              </a:ext>
            </a:extLst>
          </p:cNvPr>
          <p:cNvSpPr txBox="1"/>
          <p:nvPr/>
        </p:nvSpPr>
        <p:spPr>
          <a:xfrm>
            <a:off x="800100" y="2882900"/>
            <a:ext cx="1651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Search and sort</a:t>
            </a:r>
          </a:p>
        </p:txBody>
      </p:sp>
      <p:cxnSp>
        <p:nvCxnSpPr>
          <p:cNvPr id="9" name="Straight Connector 8">
            <a:extLst>
              <a:ext uri="{FF2B5EF4-FFF2-40B4-BE49-F238E27FC236}">
                <a16:creationId xmlns:a16="http://schemas.microsoft.com/office/drawing/2014/main" id="{50AFB4E2-91C2-31A1-D47C-CD190AA09BEE}"/>
              </a:ext>
            </a:extLst>
          </p:cNvPr>
          <p:cNvCxnSpPr/>
          <p:nvPr/>
        </p:nvCxnSpPr>
        <p:spPr>
          <a:xfrm>
            <a:off x="2654300" y="3035300"/>
            <a:ext cx="1651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6175648-F018-E5D0-4855-BF055ED43292}"/>
              </a:ext>
            </a:extLst>
          </p:cNvPr>
          <p:cNvSpPr/>
          <p:nvPr/>
        </p:nvSpPr>
        <p:spPr>
          <a:xfrm>
            <a:off x="2844800" y="2286000"/>
            <a:ext cx="2032000" cy="14986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CE1377E-9945-0CB8-BAF3-9242C4C8774D}"/>
              </a:ext>
            </a:extLst>
          </p:cNvPr>
          <p:cNvSpPr txBox="1"/>
          <p:nvPr/>
        </p:nvSpPr>
        <p:spPr>
          <a:xfrm>
            <a:off x="3035300" y="2451100"/>
            <a:ext cx="1651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Sign in</a:t>
            </a:r>
          </a:p>
        </p:txBody>
      </p:sp>
      <p:sp>
        <p:nvSpPr>
          <p:cNvPr id="12" name="TextBox 11">
            <a:extLst>
              <a:ext uri="{FF2B5EF4-FFF2-40B4-BE49-F238E27FC236}">
                <a16:creationId xmlns:a16="http://schemas.microsoft.com/office/drawing/2014/main" id="{AC9AD2BD-8027-360C-A64A-50A0D81C0F62}"/>
              </a:ext>
            </a:extLst>
          </p:cNvPr>
          <p:cNvSpPr txBox="1"/>
          <p:nvPr/>
        </p:nvSpPr>
        <p:spPr>
          <a:xfrm>
            <a:off x="3035300" y="2882900"/>
            <a:ext cx="1651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Register or login</a:t>
            </a:r>
          </a:p>
        </p:txBody>
      </p:sp>
      <p:cxnSp>
        <p:nvCxnSpPr>
          <p:cNvPr id="13" name="Straight Connector 12">
            <a:extLst>
              <a:ext uri="{FF2B5EF4-FFF2-40B4-BE49-F238E27FC236}">
                <a16:creationId xmlns:a16="http://schemas.microsoft.com/office/drawing/2014/main" id="{5765D854-D12B-894E-E46A-BF9DCD0C8EA3}"/>
              </a:ext>
            </a:extLst>
          </p:cNvPr>
          <p:cNvCxnSpPr/>
          <p:nvPr/>
        </p:nvCxnSpPr>
        <p:spPr>
          <a:xfrm>
            <a:off x="4889500" y="3035300"/>
            <a:ext cx="1651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A13651A-5393-84E2-885C-15DE30FE9C21}"/>
              </a:ext>
            </a:extLst>
          </p:cNvPr>
          <p:cNvSpPr/>
          <p:nvPr/>
        </p:nvSpPr>
        <p:spPr>
          <a:xfrm>
            <a:off x="5080000" y="2286000"/>
            <a:ext cx="2032000" cy="14986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DD8A3E81-FE25-93A1-DD10-1F782F698FA0}"/>
              </a:ext>
            </a:extLst>
          </p:cNvPr>
          <p:cNvSpPr txBox="1"/>
          <p:nvPr/>
        </p:nvSpPr>
        <p:spPr>
          <a:xfrm>
            <a:off x="5270500" y="2451100"/>
            <a:ext cx="1651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Build a bag</a:t>
            </a:r>
          </a:p>
        </p:txBody>
      </p:sp>
      <p:sp>
        <p:nvSpPr>
          <p:cNvPr id="16" name="TextBox 15">
            <a:extLst>
              <a:ext uri="{FF2B5EF4-FFF2-40B4-BE49-F238E27FC236}">
                <a16:creationId xmlns:a16="http://schemas.microsoft.com/office/drawing/2014/main" id="{50FE4DDF-57B3-6FF9-D5DD-05353AC34178}"/>
              </a:ext>
            </a:extLst>
          </p:cNvPr>
          <p:cNvSpPr txBox="1"/>
          <p:nvPr/>
        </p:nvSpPr>
        <p:spPr>
          <a:xfrm>
            <a:off x="5270500" y="2882900"/>
            <a:ext cx="1651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Buttons or chatbot</a:t>
            </a:r>
          </a:p>
        </p:txBody>
      </p:sp>
      <p:cxnSp>
        <p:nvCxnSpPr>
          <p:cNvPr id="17" name="Straight Connector 16">
            <a:extLst>
              <a:ext uri="{FF2B5EF4-FFF2-40B4-BE49-F238E27FC236}">
                <a16:creationId xmlns:a16="http://schemas.microsoft.com/office/drawing/2014/main" id="{9DC87226-0B0B-E97E-CC17-F8815870C5E9}"/>
              </a:ext>
            </a:extLst>
          </p:cNvPr>
          <p:cNvCxnSpPr/>
          <p:nvPr/>
        </p:nvCxnSpPr>
        <p:spPr>
          <a:xfrm>
            <a:off x="7124700" y="3035300"/>
            <a:ext cx="1651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05ABEDE-8E98-6A46-2CA0-11C4B1724505}"/>
              </a:ext>
            </a:extLst>
          </p:cNvPr>
          <p:cNvSpPr/>
          <p:nvPr/>
        </p:nvSpPr>
        <p:spPr>
          <a:xfrm>
            <a:off x="7315200" y="2286000"/>
            <a:ext cx="2032000" cy="14986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123FEB40-2EA0-89E9-4294-F16707C4653D}"/>
              </a:ext>
            </a:extLst>
          </p:cNvPr>
          <p:cNvSpPr txBox="1"/>
          <p:nvPr/>
        </p:nvSpPr>
        <p:spPr>
          <a:xfrm>
            <a:off x="7505700" y="2451100"/>
            <a:ext cx="1651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Review</a:t>
            </a:r>
          </a:p>
        </p:txBody>
      </p:sp>
      <p:sp>
        <p:nvSpPr>
          <p:cNvPr id="20" name="TextBox 19">
            <a:extLst>
              <a:ext uri="{FF2B5EF4-FFF2-40B4-BE49-F238E27FC236}">
                <a16:creationId xmlns:a16="http://schemas.microsoft.com/office/drawing/2014/main" id="{B8BEC04B-08E0-51C8-8E52-20B91BC641DE}"/>
              </a:ext>
            </a:extLst>
          </p:cNvPr>
          <p:cNvSpPr txBox="1"/>
          <p:nvPr/>
        </p:nvSpPr>
        <p:spPr>
          <a:xfrm>
            <a:off x="7505700" y="2882900"/>
            <a:ext cx="1651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Items and shipping</a:t>
            </a:r>
          </a:p>
        </p:txBody>
      </p:sp>
      <p:cxnSp>
        <p:nvCxnSpPr>
          <p:cNvPr id="21" name="Straight Connector 20">
            <a:extLst>
              <a:ext uri="{FF2B5EF4-FFF2-40B4-BE49-F238E27FC236}">
                <a16:creationId xmlns:a16="http://schemas.microsoft.com/office/drawing/2014/main" id="{DB53B94A-9FD5-7E59-FBB1-3F85BCA3CBA6}"/>
              </a:ext>
            </a:extLst>
          </p:cNvPr>
          <p:cNvCxnSpPr/>
          <p:nvPr/>
        </p:nvCxnSpPr>
        <p:spPr>
          <a:xfrm>
            <a:off x="9359900" y="3035300"/>
            <a:ext cx="1651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6ADCD1B-7376-04B2-6D49-47A69DF392CA}"/>
              </a:ext>
            </a:extLst>
          </p:cNvPr>
          <p:cNvSpPr/>
          <p:nvPr/>
        </p:nvSpPr>
        <p:spPr>
          <a:xfrm>
            <a:off x="9550400" y="2286000"/>
            <a:ext cx="2032000" cy="14986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51655662-7F02-600D-DD9F-B27F9392FA34}"/>
              </a:ext>
            </a:extLst>
          </p:cNvPr>
          <p:cNvSpPr txBox="1"/>
          <p:nvPr/>
        </p:nvSpPr>
        <p:spPr>
          <a:xfrm>
            <a:off x="9740900" y="2451100"/>
            <a:ext cx="1651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Save an order</a:t>
            </a:r>
          </a:p>
        </p:txBody>
      </p:sp>
      <p:sp>
        <p:nvSpPr>
          <p:cNvPr id="24" name="TextBox 23">
            <a:extLst>
              <a:ext uri="{FF2B5EF4-FFF2-40B4-BE49-F238E27FC236}">
                <a16:creationId xmlns:a16="http://schemas.microsoft.com/office/drawing/2014/main" id="{9975C433-8BED-BE8B-1A91-196E8EA79708}"/>
              </a:ext>
            </a:extLst>
          </p:cNvPr>
          <p:cNvSpPr txBox="1"/>
          <p:nvPr/>
        </p:nvSpPr>
        <p:spPr>
          <a:xfrm>
            <a:off x="9740900" y="2882900"/>
            <a:ext cx="1651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Pending payment</a:t>
            </a:r>
          </a:p>
        </p:txBody>
      </p:sp>
      <p:sp>
        <p:nvSpPr>
          <p:cNvPr id="25" name="TextBox 24">
            <a:extLst>
              <a:ext uri="{FF2B5EF4-FFF2-40B4-BE49-F238E27FC236}">
                <a16:creationId xmlns:a16="http://schemas.microsoft.com/office/drawing/2014/main" id="{02E51E10-6E23-BCDB-017C-8B7BFAA5BA73}"/>
              </a:ext>
            </a:extLst>
          </p:cNvPr>
          <p:cNvSpPr txBox="1"/>
          <p:nvPr/>
        </p:nvSpPr>
        <p:spPr>
          <a:xfrm>
            <a:off x="635000" y="4318000"/>
            <a:ext cx="4318000" cy="276999"/>
          </a:xfrm>
          <a:prstGeom prst="rect">
            <a:avLst/>
          </a:prstGeom>
          <a:noFill/>
        </p:spPr>
        <p:txBody>
          <a:bodyPr vert="horz" wrap="square" lIns="0" tIns="0" rIns="0" bIns="0" rtlCol="0">
            <a:noAutofit/>
          </a:bodyPr>
          <a:lstStyle/>
          <a:p>
            <a:pPr>
              <a:spcAft>
                <a:spcPts val="800"/>
              </a:spcAft>
            </a:pPr>
            <a:r>
              <a:rPr lang="en-IN" sz="2500" b="1">
                <a:solidFill>
                  <a:srgbClr val="AE553E"/>
                </a:solidFill>
                <a:latin typeface="Segoe UI" panose="020B0502040204020203" pitchFamily="34" charset="0"/>
              </a:rPr>
              <a:t>Ask Everyday</a:t>
            </a:r>
          </a:p>
        </p:txBody>
      </p:sp>
      <p:sp>
        <p:nvSpPr>
          <p:cNvPr id="26" name="TextBox 25">
            <a:extLst>
              <a:ext uri="{FF2B5EF4-FFF2-40B4-BE49-F238E27FC236}">
                <a16:creationId xmlns:a16="http://schemas.microsoft.com/office/drawing/2014/main" id="{3D13FA87-18A5-B4E7-A7C1-5612E3BF933D}"/>
              </a:ext>
            </a:extLst>
          </p:cNvPr>
          <p:cNvSpPr txBox="1"/>
          <p:nvPr/>
        </p:nvSpPr>
        <p:spPr>
          <a:xfrm>
            <a:off x="635000" y="4914900"/>
            <a:ext cx="10414000" cy="276999"/>
          </a:xfrm>
          <a:prstGeom prst="rect">
            <a:avLst/>
          </a:prstGeom>
          <a:noFill/>
        </p:spPr>
        <p:txBody>
          <a:bodyPr vert="horz" wrap="square" lIns="0" tIns="0" rIns="0" bIns="0" rtlCol="0">
            <a:noAutofit/>
          </a:bodyPr>
          <a:lstStyle/>
          <a:p>
            <a:pPr>
              <a:spcAft>
                <a:spcPts val="800"/>
              </a:spcAft>
            </a:pPr>
            <a:r>
              <a:rPr lang="en-US" sz="2300">
                <a:solidFill>
                  <a:srgbClr val="24342C"/>
                </a:solidFill>
                <a:latin typeface="Segoe UI" panose="020B0502040204020203" pitchFamily="34" charset="0"/>
              </a:rPr>
              <a:t>Answers catalog questions, retrieves policy passages, and adds requested products to your own bag.</a:t>
            </a:r>
            <a:endParaRPr lang="en-IN" sz="2300">
              <a:solidFill>
                <a:srgbClr val="24342C"/>
              </a:solidFill>
              <a:latin typeface="Segoe UI" panose="020B0502040204020203" pitchFamily="34" charset="0"/>
            </a:endParaRPr>
          </a:p>
        </p:txBody>
      </p:sp>
    </p:spTree>
    <p:extLst>
      <p:ext uri="{BB962C8B-B14F-4D97-AF65-F5344CB8AC3E}">
        <p14:creationId xmlns:p14="http://schemas.microsoft.com/office/powerpoint/2010/main" val="4254960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1C1188-2656-1647-98E4-889EEB6B0E48}"/>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System architecture</a:t>
            </a:r>
          </a:p>
        </p:txBody>
      </p:sp>
      <p:sp>
        <p:nvSpPr>
          <p:cNvPr id="3" name="TextBox 2">
            <a:extLst>
              <a:ext uri="{FF2B5EF4-FFF2-40B4-BE49-F238E27FC236}">
                <a16:creationId xmlns:a16="http://schemas.microsoft.com/office/drawing/2014/main" id="{D0228F5D-1529-C746-F0B7-614368FD8E16}"/>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The browser uses a same-origin Node proxy to reach FastAPI</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046486AD-0512-6FB5-9995-9B9F66F3AF7B}"/>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520730CE-3A04-8FEA-BE33-C3DE00D840E4}"/>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03</a:t>
            </a:r>
          </a:p>
        </p:txBody>
      </p:sp>
      <p:sp>
        <p:nvSpPr>
          <p:cNvPr id="6" name="Rectangle 5">
            <a:extLst>
              <a:ext uri="{FF2B5EF4-FFF2-40B4-BE49-F238E27FC236}">
                <a16:creationId xmlns:a16="http://schemas.microsoft.com/office/drawing/2014/main" id="{51FD023B-D391-8694-E34B-CC0393EC42DD}"/>
              </a:ext>
            </a:extLst>
          </p:cNvPr>
          <p:cNvSpPr/>
          <p:nvPr/>
        </p:nvSpPr>
        <p:spPr>
          <a:xfrm>
            <a:off x="609600" y="2070100"/>
            <a:ext cx="2413000" cy="1473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FEC67E7-790D-9479-72D3-E47C7BC89C7E}"/>
              </a:ext>
            </a:extLst>
          </p:cNvPr>
          <p:cNvSpPr txBox="1"/>
          <p:nvPr/>
        </p:nvSpPr>
        <p:spPr>
          <a:xfrm>
            <a:off x="800100" y="2235200"/>
            <a:ext cx="2032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Browser</a:t>
            </a:r>
          </a:p>
        </p:txBody>
      </p:sp>
      <p:sp>
        <p:nvSpPr>
          <p:cNvPr id="8" name="TextBox 7">
            <a:extLst>
              <a:ext uri="{FF2B5EF4-FFF2-40B4-BE49-F238E27FC236}">
                <a16:creationId xmlns:a16="http://schemas.microsoft.com/office/drawing/2014/main" id="{619BDABE-9839-058F-AE1C-D2E5A90DDDBA}"/>
              </a:ext>
            </a:extLst>
          </p:cNvPr>
          <p:cNvSpPr txBox="1"/>
          <p:nvPr/>
        </p:nvSpPr>
        <p:spPr>
          <a:xfrm>
            <a:off x="800100" y="2667000"/>
            <a:ext cx="2032000" cy="276999"/>
          </a:xfrm>
          <a:prstGeom prst="rect">
            <a:avLst/>
          </a:prstGeom>
          <a:noFill/>
        </p:spPr>
        <p:txBody>
          <a:bodyPr vert="horz" wrap="square" lIns="0" tIns="0" rIns="0" bIns="0" rtlCol="0">
            <a:noAutofit/>
          </a:bodyPr>
          <a:lstStyle/>
          <a:p>
            <a:pPr>
              <a:spcAft>
                <a:spcPts val="800"/>
              </a:spcAft>
            </a:pPr>
            <a:r>
              <a:rPr lang="en-US" sz="1700">
                <a:solidFill>
                  <a:srgbClr val="5A655E"/>
                </a:solidFill>
                <a:latin typeface="Segoe UI" panose="020B0502040204020203" pitchFamily="34" charset="0"/>
              </a:rPr>
              <a:t>HTML / CSS / JS
Token + chat memory</a:t>
            </a:r>
            <a:endParaRPr lang="en-IN" sz="1700">
              <a:solidFill>
                <a:srgbClr val="5A655E"/>
              </a:solidFill>
              <a:latin typeface="Segoe UI" panose="020B0502040204020203" pitchFamily="34" charset="0"/>
            </a:endParaRPr>
          </a:p>
        </p:txBody>
      </p:sp>
      <p:sp>
        <p:nvSpPr>
          <p:cNvPr id="9" name="Rectangle 8">
            <a:extLst>
              <a:ext uri="{FF2B5EF4-FFF2-40B4-BE49-F238E27FC236}">
                <a16:creationId xmlns:a16="http://schemas.microsoft.com/office/drawing/2014/main" id="{255A6539-DE37-78C9-A301-8E86A9AC4270}"/>
              </a:ext>
            </a:extLst>
          </p:cNvPr>
          <p:cNvSpPr/>
          <p:nvPr/>
        </p:nvSpPr>
        <p:spPr>
          <a:xfrm>
            <a:off x="3619500" y="2070100"/>
            <a:ext cx="2413000" cy="1473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1A6549C8-BC9A-B2A5-3AC9-087ADB90B3B4}"/>
              </a:ext>
            </a:extLst>
          </p:cNvPr>
          <p:cNvSpPr txBox="1"/>
          <p:nvPr/>
        </p:nvSpPr>
        <p:spPr>
          <a:xfrm>
            <a:off x="3810000" y="2235200"/>
            <a:ext cx="2032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Node proxy</a:t>
            </a:r>
          </a:p>
        </p:txBody>
      </p:sp>
      <p:sp>
        <p:nvSpPr>
          <p:cNvPr id="11" name="TextBox 10">
            <a:extLst>
              <a:ext uri="{FF2B5EF4-FFF2-40B4-BE49-F238E27FC236}">
                <a16:creationId xmlns:a16="http://schemas.microsoft.com/office/drawing/2014/main" id="{7387F53A-538C-1D30-A249-26D94B9AA86C}"/>
              </a:ext>
            </a:extLst>
          </p:cNvPr>
          <p:cNvSpPr txBox="1"/>
          <p:nvPr/>
        </p:nvSpPr>
        <p:spPr>
          <a:xfrm>
            <a:off x="3810000" y="2667000"/>
            <a:ext cx="2032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Port 5173
/api -&gt; backend</a:t>
            </a:r>
          </a:p>
        </p:txBody>
      </p:sp>
      <p:sp>
        <p:nvSpPr>
          <p:cNvPr id="12" name="Rectangle 11">
            <a:extLst>
              <a:ext uri="{FF2B5EF4-FFF2-40B4-BE49-F238E27FC236}">
                <a16:creationId xmlns:a16="http://schemas.microsoft.com/office/drawing/2014/main" id="{8A589F63-92C7-9C12-7E4D-2C3A123CE816}"/>
              </a:ext>
            </a:extLst>
          </p:cNvPr>
          <p:cNvSpPr/>
          <p:nvPr/>
        </p:nvSpPr>
        <p:spPr>
          <a:xfrm>
            <a:off x="6629400" y="2070100"/>
            <a:ext cx="2413000" cy="1473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014A502-1850-41DB-5CCF-0632EDB30114}"/>
              </a:ext>
            </a:extLst>
          </p:cNvPr>
          <p:cNvSpPr txBox="1"/>
          <p:nvPr/>
        </p:nvSpPr>
        <p:spPr>
          <a:xfrm>
            <a:off x="6819900" y="2235200"/>
            <a:ext cx="2032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FastAPI</a:t>
            </a:r>
          </a:p>
        </p:txBody>
      </p:sp>
      <p:sp>
        <p:nvSpPr>
          <p:cNvPr id="14" name="TextBox 13">
            <a:extLst>
              <a:ext uri="{FF2B5EF4-FFF2-40B4-BE49-F238E27FC236}">
                <a16:creationId xmlns:a16="http://schemas.microsoft.com/office/drawing/2014/main" id="{142314B1-C0B3-66F5-DF6B-B3CCA7291D81}"/>
              </a:ext>
            </a:extLst>
          </p:cNvPr>
          <p:cNvSpPr txBox="1"/>
          <p:nvPr/>
        </p:nvSpPr>
        <p:spPr>
          <a:xfrm>
            <a:off x="6819900" y="2667000"/>
            <a:ext cx="2032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Port 8000
Auth + services</a:t>
            </a:r>
          </a:p>
        </p:txBody>
      </p:sp>
      <p:sp>
        <p:nvSpPr>
          <p:cNvPr id="15" name="Rectangle 14">
            <a:extLst>
              <a:ext uri="{FF2B5EF4-FFF2-40B4-BE49-F238E27FC236}">
                <a16:creationId xmlns:a16="http://schemas.microsoft.com/office/drawing/2014/main" id="{F020F037-623E-5D10-2E57-FD9CFEF0C9BD}"/>
              </a:ext>
            </a:extLst>
          </p:cNvPr>
          <p:cNvSpPr/>
          <p:nvPr/>
        </p:nvSpPr>
        <p:spPr>
          <a:xfrm>
            <a:off x="9626600" y="2070100"/>
            <a:ext cx="1968500" cy="1473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7A83857-B143-BEA8-74D6-1E54A8539B17}"/>
              </a:ext>
            </a:extLst>
          </p:cNvPr>
          <p:cNvSpPr txBox="1"/>
          <p:nvPr/>
        </p:nvSpPr>
        <p:spPr>
          <a:xfrm>
            <a:off x="9817100" y="2235200"/>
            <a:ext cx="158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SQLite</a:t>
            </a:r>
          </a:p>
        </p:txBody>
      </p:sp>
      <p:sp>
        <p:nvSpPr>
          <p:cNvPr id="17" name="TextBox 16">
            <a:extLst>
              <a:ext uri="{FF2B5EF4-FFF2-40B4-BE49-F238E27FC236}">
                <a16:creationId xmlns:a16="http://schemas.microsoft.com/office/drawing/2014/main" id="{A6B574F6-AA9E-C2E9-FB1B-24E29640A2D7}"/>
              </a:ext>
            </a:extLst>
          </p:cNvPr>
          <p:cNvSpPr txBox="1"/>
          <p:nvPr/>
        </p:nvSpPr>
        <p:spPr>
          <a:xfrm>
            <a:off x="9817100" y="2667000"/>
            <a:ext cx="15875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Users, products
Carts, orders</a:t>
            </a:r>
          </a:p>
        </p:txBody>
      </p:sp>
      <p:cxnSp>
        <p:nvCxnSpPr>
          <p:cNvPr id="18" name="Straight Connector 17">
            <a:extLst>
              <a:ext uri="{FF2B5EF4-FFF2-40B4-BE49-F238E27FC236}">
                <a16:creationId xmlns:a16="http://schemas.microsoft.com/office/drawing/2014/main" id="{4E4E8705-9486-8F55-651B-3930878B2D02}"/>
              </a:ext>
            </a:extLst>
          </p:cNvPr>
          <p:cNvCxnSpPr/>
          <p:nvPr/>
        </p:nvCxnSpPr>
        <p:spPr>
          <a:xfrm>
            <a:off x="3035300" y="2794000"/>
            <a:ext cx="5461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BBBE790-EFCB-FEEA-98BC-C3FB9BB2B32D}"/>
              </a:ext>
            </a:extLst>
          </p:cNvPr>
          <p:cNvCxnSpPr/>
          <p:nvPr/>
        </p:nvCxnSpPr>
        <p:spPr>
          <a:xfrm>
            <a:off x="6045200" y="2794000"/>
            <a:ext cx="5461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666C93-06A0-510B-00FD-4111144ECE95}"/>
              </a:ext>
            </a:extLst>
          </p:cNvPr>
          <p:cNvCxnSpPr/>
          <p:nvPr/>
        </p:nvCxnSpPr>
        <p:spPr>
          <a:xfrm>
            <a:off x="9055100" y="2794000"/>
            <a:ext cx="5334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6E174F0-E3B1-ED63-0B53-2605332F9874}"/>
              </a:ext>
            </a:extLst>
          </p:cNvPr>
          <p:cNvSpPr/>
          <p:nvPr/>
        </p:nvSpPr>
        <p:spPr>
          <a:xfrm>
            <a:off x="5740400" y="4241800"/>
            <a:ext cx="3302000" cy="1473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62B914CB-A65C-945F-B870-8A936B716F18}"/>
              </a:ext>
            </a:extLst>
          </p:cNvPr>
          <p:cNvSpPr txBox="1"/>
          <p:nvPr/>
        </p:nvSpPr>
        <p:spPr>
          <a:xfrm>
            <a:off x="5930900" y="4406900"/>
            <a:ext cx="2921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Shopping agent</a:t>
            </a:r>
          </a:p>
        </p:txBody>
      </p:sp>
      <p:sp>
        <p:nvSpPr>
          <p:cNvPr id="23" name="TextBox 22">
            <a:extLst>
              <a:ext uri="{FF2B5EF4-FFF2-40B4-BE49-F238E27FC236}">
                <a16:creationId xmlns:a16="http://schemas.microsoft.com/office/drawing/2014/main" id="{87BB0FCB-C05D-4967-5202-C0DB67AC6E99}"/>
              </a:ext>
            </a:extLst>
          </p:cNvPr>
          <p:cNvSpPr txBox="1"/>
          <p:nvPr/>
        </p:nvSpPr>
        <p:spPr>
          <a:xfrm>
            <a:off x="5930900" y="4838700"/>
            <a:ext cx="29210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Catalog / policy / cart tools</a:t>
            </a:r>
          </a:p>
        </p:txBody>
      </p:sp>
      <p:sp>
        <p:nvSpPr>
          <p:cNvPr id="24" name="Rectangle 23">
            <a:extLst>
              <a:ext uri="{FF2B5EF4-FFF2-40B4-BE49-F238E27FC236}">
                <a16:creationId xmlns:a16="http://schemas.microsoft.com/office/drawing/2014/main" id="{8D5E2EFC-429E-26AA-D41B-7C91ADE4CD39}"/>
              </a:ext>
            </a:extLst>
          </p:cNvPr>
          <p:cNvSpPr/>
          <p:nvPr/>
        </p:nvSpPr>
        <p:spPr>
          <a:xfrm>
            <a:off x="9626600" y="4241800"/>
            <a:ext cx="1968500" cy="1473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9021279A-0483-81A0-14A0-78BC2E481B4D}"/>
              </a:ext>
            </a:extLst>
          </p:cNvPr>
          <p:cNvSpPr txBox="1"/>
          <p:nvPr/>
        </p:nvSpPr>
        <p:spPr>
          <a:xfrm>
            <a:off x="9817100" y="4406900"/>
            <a:ext cx="158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AI + retrieval</a:t>
            </a:r>
          </a:p>
        </p:txBody>
      </p:sp>
      <p:sp>
        <p:nvSpPr>
          <p:cNvPr id="26" name="TextBox 25">
            <a:extLst>
              <a:ext uri="{FF2B5EF4-FFF2-40B4-BE49-F238E27FC236}">
                <a16:creationId xmlns:a16="http://schemas.microsoft.com/office/drawing/2014/main" id="{BF18366F-6D33-2D85-F594-EAA1F20CE37B}"/>
              </a:ext>
            </a:extLst>
          </p:cNvPr>
          <p:cNvSpPr txBox="1"/>
          <p:nvPr/>
        </p:nvSpPr>
        <p:spPr>
          <a:xfrm>
            <a:off x="9817100" y="4838700"/>
            <a:ext cx="15875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Chat provider
FAISS index</a:t>
            </a:r>
          </a:p>
        </p:txBody>
      </p:sp>
      <p:cxnSp>
        <p:nvCxnSpPr>
          <p:cNvPr id="27" name="Straight Connector 26">
            <a:extLst>
              <a:ext uri="{FF2B5EF4-FFF2-40B4-BE49-F238E27FC236}">
                <a16:creationId xmlns:a16="http://schemas.microsoft.com/office/drawing/2014/main" id="{D975A22B-80D6-A457-9526-EFCE85129573}"/>
              </a:ext>
            </a:extLst>
          </p:cNvPr>
          <p:cNvCxnSpPr/>
          <p:nvPr/>
        </p:nvCxnSpPr>
        <p:spPr>
          <a:xfrm>
            <a:off x="7823200" y="3556000"/>
            <a:ext cx="0" cy="64770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8DFFE4-8AB4-8A29-2155-B5ADB4F08DDF}"/>
              </a:ext>
            </a:extLst>
          </p:cNvPr>
          <p:cNvCxnSpPr/>
          <p:nvPr/>
        </p:nvCxnSpPr>
        <p:spPr>
          <a:xfrm>
            <a:off x="9055100" y="4953000"/>
            <a:ext cx="5334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E28CE4B-E34C-C29A-217C-927EF3784371}"/>
              </a:ext>
            </a:extLst>
          </p:cNvPr>
          <p:cNvSpPr txBox="1"/>
          <p:nvPr/>
        </p:nvSpPr>
        <p:spPr>
          <a:xfrm>
            <a:off x="609600" y="4521200"/>
            <a:ext cx="4356100" cy="276999"/>
          </a:xfrm>
          <a:prstGeom prst="rect">
            <a:avLst/>
          </a:prstGeom>
          <a:noFill/>
        </p:spPr>
        <p:txBody>
          <a:bodyPr vert="horz" wrap="square" lIns="0" tIns="0" rIns="0" bIns="0" rtlCol="0">
            <a:noAutofit/>
          </a:bodyPr>
          <a:lstStyle/>
          <a:p>
            <a:pPr>
              <a:spcAft>
                <a:spcPts val="800"/>
              </a:spcAft>
            </a:pPr>
            <a:r>
              <a:rPr lang="en-US" sz="2200" b="1">
                <a:solidFill>
                  <a:srgbClr val="AE553E"/>
                </a:solidFill>
                <a:latin typeface="Segoe UI" panose="020B0502040204020203" pitchFamily="34" charset="0"/>
              </a:rPr>
              <a:t>Provider credentials remain in the backend .env</a:t>
            </a:r>
            <a:endParaRPr lang="en-IN" sz="2200" b="1">
              <a:solidFill>
                <a:srgbClr val="AE553E"/>
              </a:solidFill>
              <a:latin typeface="Segoe UI" panose="020B0502040204020203" pitchFamily="34" charset="0"/>
            </a:endParaRPr>
          </a:p>
        </p:txBody>
      </p:sp>
    </p:spTree>
    <p:extLst>
      <p:ext uri="{BB962C8B-B14F-4D97-AF65-F5344CB8AC3E}">
        <p14:creationId xmlns:p14="http://schemas.microsoft.com/office/powerpoint/2010/main" val="413725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4932AD-204B-3A0A-A0CF-E2C4E0EC84D5}"/>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Module responsibilities</a:t>
            </a:r>
          </a:p>
        </p:txBody>
      </p:sp>
      <p:sp>
        <p:nvSpPr>
          <p:cNvPr id="3" name="TextBox 2">
            <a:extLst>
              <a:ext uri="{FF2B5EF4-FFF2-40B4-BE49-F238E27FC236}">
                <a16:creationId xmlns:a16="http://schemas.microsoft.com/office/drawing/2014/main" id="{4B4BB648-9168-5159-F2FC-FBD480652379}"/>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HTTP contracts, operations, persistence, and model tools have separate files</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F686DE5B-1419-DB94-5342-56906F42754B}"/>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1A0154F2-0FB1-5E1D-2AFF-4A4FAFEBA73F}"/>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04</a:t>
            </a:r>
          </a:p>
        </p:txBody>
      </p:sp>
      <p:graphicFrame>
        <p:nvGraphicFramePr>
          <p:cNvPr id="6" name="Table 5">
            <a:extLst>
              <a:ext uri="{FF2B5EF4-FFF2-40B4-BE49-F238E27FC236}">
                <a16:creationId xmlns:a16="http://schemas.microsoft.com/office/drawing/2014/main" id="{7E4DC46D-5834-331B-8513-6B9312020967}"/>
              </a:ext>
            </a:extLst>
          </p:cNvPr>
          <p:cNvGraphicFramePr>
            <a:graphicFrameLocks noGrp="1"/>
          </p:cNvGraphicFramePr>
          <p:nvPr>
            <p:extLst>
              <p:ext uri="{D42A27DB-BD31-4B8C-83A1-F6EECF244321}">
                <p14:modId xmlns:p14="http://schemas.microsoft.com/office/powerpoint/2010/main" val="1735310674"/>
              </p:ext>
            </p:extLst>
          </p:nvPr>
        </p:nvGraphicFramePr>
        <p:xfrm>
          <a:off x="609600" y="2006600"/>
          <a:ext cx="10972800" cy="38481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1743426055"/>
                    </a:ext>
                  </a:extLst>
                </a:gridCol>
                <a:gridCol w="5270500">
                  <a:extLst>
                    <a:ext uri="{9D8B030D-6E8A-4147-A177-3AD203B41FA5}">
                      <a16:colId xmlns:a16="http://schemas.microsoft.com/office/drawing/2014/main" val="405245991"/>
                    </a:ext>
                  </a:extLst>
                </a:gridCol>
                <a:gridCol w="3492500">
                  <a:extLst>
                    <a:ext uri="{9D8B030D-6E8A-4147-A177-3AD203B41FA5}">
                      <a16:colId xmlns:a16="http://schemas.microsoft.com/office/drawing/2014/main" val="2209704345"/>
                    </a:ext>
                  </a:extLst>
                </a:gridCol>
              </a:tblGrid>
              <a:tr h="549729">
                <a:tc>
                  <a:txBody>
                    <a:bodyPr/>
                    <a:lstStyle/>
                    <a:p>
                      <a:r>
                        <a:rPr lang="en-IN" sz="1700" b="1">
                          <a:solidFill>
                            <a:srgbClr val="FFFFFF"/>
                          </a:solidFill>
                          <a:latin typeface="Segoe UI" panose="020B0502040204020203" pitchFamily="34" charset="0"/>
                        </a:rPr>
                        <a:t>Layer</a:t>
                      </a:r>
                    </a:p>
                  </a:txBody>
                  <a:tcPr marL="127000" marR="127000" marT="88900" marB="63500">
                    <a:solidFill>
                      <a:srgbClr val="24342C"/>
                    </a:solidFill>
                  </a:tcPr>
                </a:tc>
                <a:tc>
                  <a:txBody>
                    <a:bodyPr/>
                    <a:lstStyle/>
                    <a:p>
                      <a:r>
                        <a:rPr lang="en-IN" sz="1700" b="1">
                          <a:solidFill>
                            <a:srgbClr val="FFFFFF"/>
                          </a:solidFill>
                          <a:latin typeface="Segoe UI" panose="020B0502040204020203" pitchFamily="34" charset="0"/>
                        </a:rPr>
                        <a:t>Responsibility</a:t>
                      </a:r>
                    </a:p>
                  </a:txBody>
                  <a:tcPr marL="127000" marR="127000" marT="88900" marB="63500">
                    <a:solidFill>
                      <a:srgbClr val="24342C"/>
                    </a:solidFill>
                  </a:tcPr>
                </a:tc>
                <a:tc>
                  <a:txBody>
                    <a:bodyPr/>
                    <a:lstStyle/>
                    <a:p>
                      <a:r>
                        <a:rPr lang="en-IN" sz="1700" b="1">
                          <a:solidFill>
                            <a:srgbClr val="FFFFFF"/>
                          </a:solidFill>
                          <a:latin typeface="Segoe UI" panose="020B0502040204020203" pitchFamily="34" charset="0"/>
                        </a:rPr>
                        <a:t>Source location</a:t>
                      </a:r>
                    </a:p>
                  </a:txBody>
                  <a:tcPr marL="127000" marR="127000" marT="88900" marB="63500">
                    <a:solidFill>
                      <a:srgbClr val="24342C"/>
                    </a:solidFill>
                  </a:tcPr>
                </a:tc>
                <a:extLst>
                  <a:ext uri="{0D108BD9-81ED-4DB2-BD59-A6C34878D82A}">
                    <a16:rowId xmlns:a16="http://schemas.microsoft.com/office/drawing/2014/main" val="2532696360"/>
                  </a:ext>
                </a:extLst>
              </a:tr>
              <a:tr h="549729">
                <a:tc>
                  <a:txBody>
                    <a:bodyPr/>
                    <a:lstStyle/>
                    <a:p>
                      <a:r>
                        <a:rPr lang="en-IN" sz="1700" b="0">
                          <a:solidFill>
                            <a:srgbClr val="24342C"/>
                          </a:solidFill>
                          <a:latin typeface="Segoe UI" panose="020B0502040204020203" pitchFamily="34" charset="0"/>
                        </a:rPr>
                        <a:t>Frontend</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State, forms, dialogs, rendering</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frontend/public/app.js</a:t>
                      </a:r>
                    </a:p>
                  </a:txBody>
                  <a:tcPr marL="127000" marR="127000" marT="88900" marB="63500">
                    <a:solidFill>
                      <a:srgbClr val="F8F5EE"/>
                    </a:solidFill>
                  </a:tcPr>
                </a:tc>
                <a:extLst>
                  <a:ext uri="{0D108BD9-81ED-4DB2-BD59-A6C34878D82A}">
                    <a16:rowId xmlns:a16="http://schemas.microsoft.com/office/drawing/2014/main" val="1646508762"/>
                  </a:ext>
                </a:extLst>
              </a:tr>
              <a:tr h="549729">
                <a:tc>
                  <a:txBody>
                    <a:bodyPr/>
                    <a:lstStyle/>
                    <a:p>
                      <a:r>
                        <a:rPr lang="en-IN" sz="1700" b="0">
                          <a:solidFill>
                            <a:srgbClr val="24342C"/>
                          </a:solidFill>
                          <a:latin typeface="Segoe UI" panose="020B0502040204020203" pitchFamily="34" charset="0"/>
                        </a:rPr>
                        <a:t>Routers + schemas</a:t>
                      </a:r>
                    </a:p>
                  </a:txBody>
                  <a:tcPr marL="127000" marR="127000" marT="88900" marB="63500">
                    <a:solidFill>
                      <a:srgbClr val="F8F5EE"/>
                    </a:solidFill>
                  </a:tcPr>
                </a:tc>
                <a:tc>
                  <a:txBody>
                    <a:bodyPr/>
                    <a:lstStyle/>
                    <a:p>
                      <a:r>
                        <a:rPr lang="en-US" sz="1700" b="0">
                          <a:solidFill>
                            <a:srgbClr val="24342C"/>
                          </a:solidFill>
                          <a:latin typeface="Segoe UI" panose="020B0502040204020203" pitchFamily="34" charset="0"/>
                        </a:rPr>
                        <a:t>HTTP status and input validation</a:t>
                      </a:r>
                      <a:endParaRPr lang="en-IN" sz="1700" b="0">
                        <a:solidFill>
                          <a:srgbClr val="24342C"/>
                        </a:solidFill>
                        <a:latin typeface="Segoe UI" panose="020B0502040204020203" pitchFamily="34" charset="0"/>
                      </a:endParaRP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routers/ + schemas/</a:t>
                      </a:r>
                    </a:p>
                  </a:txBody>
                  <a:tcPr marL="127000" marR="127000" marT="88900" marB="63500">
                    <a:solidFill>
                      <a:srgbClr val="F8F5EE"/>
                    </a:solidFill>
                  </a:tcPr>
                </a:tc>
                <a:extLst>
                  <a:ext uri="{0D108BD9-81ED-4DB2-BD59-A6C34878D82A}">
                    <a16:rowId xmlns:a16="http://schemas.microsoft.com/office/drawing/2014/main" val="4190176365"/>
                  </a:ext>
                </a:extLst>
              </a:tr>
              <a:tr h="549729">
                <a:tc>
                  <a:txBody>
                    <a:bodyPr/>
                    <a:lstStyle/>
                    <a:p>
                      <a:r>
                        <a:rPr lang="en-IN" sz="1700" b="0">
                          <a:solidFill>
                            <a:srgbClr val="24342C"/>
                          </a:solidFill>
                          <a:latin typeface="Segoe UI" panose="020B0502040204020203" pitchFamily="34" charset="0"/>
                        </a:rPr>
                        <a:t>Services</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Cart, checkout, auth operations</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services/</a:t>
                      </a:r>
                    </a:p>
                  </a:txBody>
                  <a:tcPr marL="127000" marR="127000" marT="88900" marB="63500">
                    <a:solidFill>
                      <a:srgbClr val="F8F5EE"/>
                    </a:solidFill>
                  </a:tcPr>
                </a:tc>
                <a:extLst>
                  <a:ext uri="{0D108BD9-81ED-4DB2-BD59-A6C34878D82A}">
                    <a16:rowId xmlns:a16="http://schemas.microsoft.com/office/drawing/2014/main" val="613495916"/>
                  </a:ext>
                </a:extLst>
              </a:tr>
              <a:tr h="549729">
                <a:tc>
                  <a:txBody>
                    <a:bodyPr/>
                    <a:lstStyle/>
                    <a:p>
                      <a:r>
                        <a:rPr lang="en-IN" sz="1700" b="0">
                          <a:solidFill>
                            <a:srgbClr val="24342C"/>
                          </a:solidFill>
                          <a:latin typeface="Segoe UI" panose="020B0502040204020203" pitchFamily="34" charset="0"/>
                        </a:rPr>
                        <a:t>Models + database</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Tables and SQLModel sessions</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models/ + database.py</a:t>
                      </a:r>
                    </a:p>
                  </a:txBody>
                  <a:tcPr marL="127000" marR="127000" marT="88900" marB="63500">
                    <a:solidFill>
                      <a:srgbClr val="F8F5EE"/>
                    </a:solidFill>
                  </a:tcPr>
                </a:tc>
                <a:extLst>
                  <a:ext uri="{0D108BD9-81ED-4DB2-BD59-A6C34878D82A}">
                    <a16:rowId xmlns:a16="http://schemas.microsoft.com/office/drawing/2014/main" val="978427670"/>
                  </a:ext>
                </a:extLst>
              </a:tr>
              <a:tr h="549729">
                <a:tc>
                  <a:txBody>
                    <a:bodyPr/>
                    <a:lstStyle/>
                    <a:p>
                      <a:r>
                        <a:rPr lang="en-IN" sz="1700" b="0">
                          <a:solidFill>
                            <a:srgbClr val="24342C"/>
                          </a:solidFill>
                          <a:latin typeface="Segoe UI" panose="020B0502040204020203" pitchFamily="34" charset="0"/>
                        </a:rPr>
                        <a:t>AI</a:t>
                      </a:r>
                    </a:p>
                  </a:txBody>
                  <a:tcPr marL="127000" marR="127000" marT="88900" marB="63500">
                    <a:solidFill>
                      <a:srgbClr val="F8F5EE"/>
                    </a:solidFill>
                  </a:tcPr>
                </a:tc>
                <a:tc>
                  <a:txBody>
                    <a:bodyPr/>
                    <a:lstStyle/>
                    <a:p>
                      <a:r>
                        <a:rPr lang="en-US" sz="1700" b="0">
                          <a:solidFill>
                            <a:srgbClr val="24342C"/>
                          </a:solidFill>
                          <a:latin typeface="Segoe UI" panose="020B0502040204020203" pitchFamily="34" charset="0"/>
                        </a:rPr>
                        <a:t>Agent, tools, model and RAG</a:t>
                      </a:r>
                      <a:endParaRPr lang="en-IN" sz="1700" b="0">
                        <a:solidFill>
                          <a:srgbClr val="24342C"/>
                        </a:solidFill>
                        <a:latin typeface="Segoe UI" panose="020B0502040204020203" pitchFamily="34" charset="0"/>
                      </a:endParaRP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ai/</a:t>
                      </a:r>
                    </a:p>
                  </a:txBody>
                  <a:tcPr marL="127000" marR="127000" marT="88900" marB="63500">
                    <a:solidFill>
                      <a:srgbClr val="F8F5EE"/>
                    </a:solidFill>
                  </a:tcPr>
                </a:tc>
                <a:extLst>
                  <a:ext uri="{0D108BD9-81ED-4DB2-BD59-A6C34878D82A}">
                    <a16:rowId xmlns:a16="http://schemas.microsoft.com/office/drawing/2014/main" val="790251204"/>
                  </a:ext>
                </a:extLst>
              </a:tr>
              <a:tr h="549729">
                <a:tc>
                  <a:txBody>
                    <a:bodyPr/>
                    <a:lstStyle/>
                    <a:p>
                      <a:r>
                        <a:rPr lang="en-IN" sz="1700" b="0">
                          <a:solidFill>
                            <a:srgbClr val="24342C"/>
                          </a:solidFill>
                          <a:latin typeface="Segoe UI" panose="020B0502040204020203" pitchFamily="34" charset="0"/>
                        </a:rPr>
                        <a:t>Core</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Configuration and bearer auth</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core/</a:t>
                      </a:r>
                    </a:p>
                  </a:txBody>
                  <a:tcPr marL="127000" marR="127000" marT="88900" marB="63500">
                    <a:solidFill>
                      <a:srgbClr val="F8F5EE"/>
                    </a:solidFill>
                  </a:tcPr>
                </a:tc>
                <a:extLst>
                  <a:ext uri="{0D108BD9-81ED-4DB2-BD59-A6C34878D82A}">
                    <a16:rowId xmlns:a16="http://schemas.microsoft.com/office/drawing/2014/main" val="1576666059"/>
                  </a:ext>
                </a:extLst>
              </a:tr>
            </a:tbl>
          </a:graphicData>
        </a:graphic>
      </p:graphicFrame>
    </p:spTree>
    <p:extLst>
      <p:ext uri="{BB962C8B-B14F-4D97-AF65-F5344CB8AC3E}">
        <p14:creationId xmlns:p14="http://schemas.microsoft.com/office/powerpoint/2010/main" val="3429568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B0BB94-9D45-84E6-14DB-58E51D6CE4E8}"/>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Database relationships</a:t>
            </a:r>
          </a:p>
        </p:txBody>
      </p:sp>
      <p:sp>
        <p:nvSpPr>
          <p:cNvPr id="3" name="TextBox 2">
            <a:extLst>
              <a:ext uri="{FF2B5EF4-FFF2-40B4-BE49-F238E27FC236}">
                <a16:creationId xmlns:a16="http://schemas.microsoft.com/office/drawing/2014/main" id="{4509A17A-0AB3-6270-2060-9FD5DD026975}"/>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Five tables store account data, the current bag, and immutable order snapshots</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86CEF09A-8EE5-CF0B-D018-94A24BD98B5D}"/>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713C62E4-65C9-B552-FF94-432EA9E6D700}"/>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05</a:t>
            </a:r>
          </a:p>
        </p:txBody>
      </p:sp>
      <p:sp>
        <p:nvSpPr>
          <p:cNvPr id="6" name="Rectangle 5">
            <a:extLst>
              <a:ext uri="{FF2B5EF4-FFF2-40B4-BE49-F238E27FC236}">
                <a16:creationId xmlns:a16="http://schemas.microsoft.com/office/drawing/2014/main" id="{99F465A1-7D55-E342-3704-3B176AFAA2AF}"/>
              </a:ext>
            </a:extLst>
          </p:cNvPr>
          <p:cNvSpPr/>
          <p:nvPr/>
        </p:nvSpPr>
        <p:spPr>
          <a:xfrm>
            <a:off x="609600" y="1917700"/>
            <a:ext cx="2616200" cy="15494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E54DD5F-8263-28C9-5B6D-87C978A7300A}"/>
              </a:ext>
            </a:extLst>
          </p:cNvPr>
          <p:cNvSpPr txBox="1"/>
          <p:nvPr/>
        </p:nvSpPr>
        <p:spPr>
          <a:xfrm>
            <a:off x="800100" y="2082800"/>
            <a:ext cx="22352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users</a:t>
            </a:r>
          </a:p>
        </p:txBody>
      </p:sp>
      <p:sp>
        <p:nvSpPr>
          <p:cNvPr id="8" name="TextBox 7">
            <a:extLst>
              <a:ext uri="{FF2B5EF4-FFF2-40B4-BE49-F238E27FC236}">
                <a16:creationId xmlns:a16="http://schemas.microsoft.com/office/drawing/2014/main" id="{DDDE603A-C007-51E1-1B1A-4938F90DD5B0}"/>
              </a:ext>
            </a:extLst>
          </p:cNvPr>
          <p:cNvSpPr txBox="1"/>
          <p:nvPr/>
        </p:nvSpPr>
        <p:spPr>
          <a:xfrm>
            <a:off x="800100" y="2514600"/>
            <a:ext cx="2235200" cy="276999"/>
          </a:xfrm>
          <a:prstGeom prst="rect">
            <a:avLst/>
          </a:prstGeom>
          <a:noFill/>
        </p:spPr>
        <p:txBody>
          <a:bodyPr vert="horz" wrap="square" lIns="0" tIns="0" rIns="0" bIns="0" rtlCol="0">
            <a:noAutofit/>
          </a:bodyPr>
          <a:lstStyle/>
          <a:p>
            <a:pPr>
              <a:spcAft>
                <a:spcPts val="800"/>
              </a:spcAft>
            </a:pPr>
            <a:r>
              <a:rPr lang="en-US" sz="1700">
                <a:solidFill>
                  <a:srgbClr val="5A655E"/>
                </a:solidFill>
                <a:latin typeface="Segoe UI" panose="020B0502040204020203" pitchFamily="34" charset="0"/>
              </a:rPr>
              <a:t>id, unique email
full_name, hash</a:t>
            </a:r>
            <a:endParaRPr lang="en-IN" sz="1700">
              <a:solidFill>
                <a:srgbClr val="5A655E"/>
              </a:solidFill>
              <a:latin typeface="Segoe UI" panose="020B0502040204020203" pitchFamily="34" charset="0"/>
            </a:endParaRPr>
          </a:p>
        </p:txBody>
      </p:sp>
      <p:sp>
        <p:nvSpPr>
          <p:cNvPr id="9" name="Rectangle 8">
            <a:extLst>
              <a:ext uri="{FF2B5EF4-FFF2-40B4-BE49-F238E27FC236}">
                <a16:creationId xmlns:a16="http://schemas.microsoft.com/office/drawing/2014/main" id="{5BB22CE7-DA72-D77B-2AE4-97D4F9E99648}"/>
              </a:ext>
            </a:extLst>
          </p:cNvPr>
          <p:cNvSpPr/>
          <p:nvPr/>
        </p:nvSpPr>
        <p:spPr>
          <a:xfrm>
            <a:off x="4699000" y="1917700"/>
            <a:ext cx="2971800" cy="15494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3026118-3AF7-8658-BA8A-11B5384B445A}"/>
              </a:ext>
            </a:extLst>
          </p:cNvPr>
          <p:cNvSpPr txBox="1"/>
          <p:nvPr/>
        </p:nvSpPr>
        <p:spPr>
          <a:xfrm>
            <a:off x="4889500" y="2082800"/>
            <a:ext cx="25908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cart_items</a:t>
            </a:r>
          </a:p>
        </p:txBody>
      </p:sp>
      <p:sp>
        <p:nvSpPr>
          <p:cNvPr id="11" name="TextBox 10">
            <a:extLst>
              <a:ext uri="{FF2B5EF4-FFF2-40B4-BE49-F238E27FC236}">
                <a16:creationId xmlns:a16="http://schemas.microsoft.com/office/drawing/2014/main" id="{1CB4E6BC-B770-F007-34F4-2F645C0C9527}"/>
              </a:ext>
            </a:extLst>
          </p:cNvPr>
          <p:cNvSpPr txBox="1"/>
          <p:nvPr/>
        </p:nvSpPr>
        <p:spPr>
          <a:xfrm>
            <a:off x="4889500" y="2514600"/>
            <a:ext cx="25908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user_id, product_id
quantity (1-100)</a:t>
            </a:r>
          </a:p>
        </p:txBody>
      </p:sp>
      <p:sp>
        <p:nvSpPr>
          <p:cNvPr id="12" name="Rectangle 11">
            <a:extLst>
              <a:ext uri="{FF2B5EF4-FFF2-40B4-BE49-F238E27FC236}">
                <a16:creationId xmlns:a16="http://schemas.microsoft.com/office/drawing/2014/main" id="{D51B749D-9F9F-5E0A-D0EE-019337473E8D}"/>
              </a:ext>
            </a:extLst>
          </p:cNvPr>
          <p:cNvSpPr/>
          <p:nvPr/>
        </p:nvSpPr>
        <p:spPr>
          <a:xfrm>
            <a:off x="8953500" y="1917700"/>
            <a:ext cx="2616200" cy="15494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2CA6F72B-1A33-3FFD-72C0-A6AECC504A41}"/>
              </a:ext>
            </a:extLst>
          </p:cNvPr>
          <p:cNvSpPr txBox="1"/>
          <p:nvPr/>
        </p:nvSpPr>
        <p:spPr>
          <a:xfrm>
            <a:off x="9144000" y="2082800"/>
            <a:ext cx="22352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products</a:t>
            </a:r>
          </a:p>
        </p:txBody>
      </p:sp>
      <p:sp>
        <p:nvSpPr>
          <p:cNvPr id="14" name="TextBox 13">
            <a:extLst>
              <a:ext uri="{FF2B5EF4-FFF2-40B4-BE49-F238E27FC236}">
                <a16:creationId xmlns:a16="http://schemas.microsoft.com/office/drawing/2014/main" id="{EFE92AC2-E3C1-DE95-475A-2F51FE6E1996}"/>
              </a:ext>
            </a:extLst>
          </p:cNvPr>
          <p:cNvSpPr txBox="1"/>
          <p:nvPr/>
        </p:nvSpPr>
        <p:spPr>
          <a:xfrm>
            <a:off x="9144000" y="2514600"/>
            <a:ext cx="2235200" cy="276999"/>
          </a:xfrm>
          <a:prstGeom prst="rect">
            <a:avLst/>
          </a:prstGeom>
          <a:noFill/>
        </p:spPr>
        <p:txBody>
          <a:bodyPr vert="horz" wrap="square" lIns="0" tIns="0" rIns="0" bIns="0" rtlCol="0">
            <a:noAutofit/>
          </a:bodyPr>
          <a:lstStyle/>
          <a:p>
            <a:pPr>
              <a:spcAft>
                <a:spcPts val="800"/>
              </a:spcAft>
            </a:pPr>
            <a:r>
              <a:rPr lang="en-US" sz="1700">
                <a:solidFill>
                  <a:srgbClr val="5A655E"/>
                </a:solidFill>
                <a:latin typeface="Segoe UI" panose="020B0502040204020203" pitchFamily="34" charset="0"/>
              </a:rPr>
              <a:t>id, name
price_paise, in_stock</a:t>
            </a:r>
            <a:endParaRPr lang="en-IN" sz="1700">
              <a:solidFill>
                <a:srgbClr val="5A655E"/>
              </a:solidFill>
              <a:latin typeface="Segoe UI" panose="020B0502040204020203" pitchFamily="34" charset="0"/>
            </a:endParaRPr>
          </a:p>
        </p:txBody>
      </p:sp>
      <p:cxnSp>
        <p:nvCxnSpPr>
          <p:cNvPr id="15" name="Straight Connector 14">
            <a:extLst>
              <a:ext uri="{FF2B5EF4-FFF2-40B4-BE49-F238E27FC236}">
                <a16:creationId xmlns:a16="http://schemas.microsoft.com/office/drawing/2014/main" id="{B6F42373-CEFA-2013-62B0-1267CAE4D762}"/>
              </a:ext>
            </a:extLst>
          </p:cNvPr>
          <p:cNvCxnSpPr/>
          <p:nvPr/>
        </p:nvCxnSpPr>
        <p:spPr>
          <a:xfrm>
            <a:off x="3238500" y="2679700"/>
            <a:ext cx="14224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B547B84-6887-4F76-17BF-17BAB9337E82}"/>
              </a:ext>
            </a:extLst>
          </p:cNvPr>
          <p:cNvCxnSpPr/>
          <p:nvPr/>
        </p:nvCxnSpPr>
        <p:spPr>
          <a:xfrm flipH="1">
            <a:off x="7708900" y="2679700"/>
            <a:ext cx="12319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4D9D723-F135-FAB6-163A-362AED9D7B27}"/>
              </a:ext>
            </a:extLst>
          </p:cNvPr>
          <p:cNvSpPr txBox="1"/>
          <p:nvPr/>
        </p:nvSpPr>
        <p:spPr>
          <a:xfrm>
            <a:off x="3492500" y="2324100"/>
            <a:ext cx="1104900" cy="276999"/>
          </a:xfrm>
          <a:prstGeom prst="rect">
            <a:avLst/>
          </a:prstGeom>
          <a:noFill/>
        </p:spPr>
        <p:txBody>
          <a:bodyPr vert="horz" wrap="square" lIns="0" tIns="0" rIns="0" bIns="0" rtlCol="0">
            <a:noAutofit/>
          </a:bodyPr>
          <a:lstStyle/>
          <a:p>
            <a:pPr>
              <a:spcAft>
                <a:spcPts val="800"/>
              </a:spcAft>
            </a:pPr>
            <a:r>
              <a:rPr lang="en-IN" sz="1400">
                <a:solidFill>
                  <a:srgbClr val="5A655E"/>
                </a:solidFill>
                <a:latin typeface="Segoe UI" panose="020B0502040204020203" pitchFamily="34" charset="0"/>
              </a:rPr>
              <a:t>1 : many</a:t>
            </a:r>
          </a:p>
        </p:txBody>
      </p:sp>
      <p:sp>
        <p:nvSpPr>
          <p:cNvPr id="18" name="TextBox 17">
            <a:extLst>
              <a:ext uri="{FF2B5EF4-FFF2-40B4-BE49-F238E27FC236}">
                <a16:creationId xmlns:a16="http://schemas.microsoft.com/office/drawing/2014/main" id="{E270CB9A-AF66-2AED-31D4-1432BA41813B}"/>
              </a:ext>
            </a:extLst>
          </p:cNvPr>
          <p:cNvSpPr txBox="1"/>
          <p:nvPr/>
        </p:nvSpPr>
        <p:spPr>
          <a:xfrm>
            <a:off x="7797800" y="2324100"/>
            <a:ext cx="1079500" cy="276999"/>
          </a:xfrm>
          <a:prstGeom prst="rect">
            <a:avLst/>
          </a:prstGeom>
          <a:noFill/>
        </p:spPr>
        <p:txBody>
          <a:bodyPr vert="horz" wrap="square" lIns="0" tIns="0" rIns="0" bIns="0" rtlCol="0">
            <a:noAutofit/>
          </a:bodyPr>
          <a:lstStyle/>
          <a:p>
            <a:pPr>
              <a:spcAft>
                <a:spcPts val="800"/>
              </a:spcAft>
            </a:pPr>
            <a:r>
              <a:rPr lang="en-IN" sz="1400">
                <a:solidFill>
                  <a:srgbClr val="5A655E"/>
                </a:solidFill>
                <a:latin typeface="Segoe UI" panose="020B0502040204020203" pitchFamily="34" charset="0"/>
              </a:rPr>
              <a:t>1 : many</a:t>
            </a:r>
          </a:p>
        </p:txBody>
      </p:sp>
      <p:sp>
        <p:nvSpPr>
          <p:cNvPr id="19" name="Rectangle 18">
            <a:extLst>
              <a:ext uri="{FF2B5EF4-FFF2-40B4-BE49-F238E27FC236}">
                <a16:creationId xmlns:a16="http://schemas.microsoft.com/office/drawing/2014/main" id="{8A009964-96BC-AF42-2D5F-135CE6F79970}"/>
              </a:ext>
            </a:extLst>
          </p:cNvPr>
          <p:cNvSpPr/>
          <p:nvPr/>
        </p:nvSpPr>
        <p:spPr>
          <a:xfrm>
            <a:off x="609600" y="4292600"/>
            <a:ext cx="3556000" cy="15367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E1A8E98-81F3-3553-6E7D-CB071099211C}"/>
              </a:ext>
            </a:extLst>
          </p:cNvPr>
          <p:cNvSpPr txBox="1"/>
          <p:nvPr/>
        </p:nvSpPr>
        <p:spPr>
          <a:xfrm>
            <a:off x="800100" y="4457700"/>
            <a:ext cx="3175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orders</a:t>
            </a:r>
          </a:p>
        </p:txBody>
      </p:sp>
      <p:sp>
        <p:nvSpPr>
          <p:cNvPr id="21" name="TextBox 20">
            <a:extLst>
              <a:ext uri="{FF2B5EF4-FFF2-40B4-BE49-F238E27FC236}">
                <a16:creationId xmlns:a16="http://schemas.microsoft.com/office/drawing/2014/main" id="{81BB1F21-C686-A01F-96C4-1F6687B805C8}"/>
              </a:ext>
            </a:extLst>
          </p:cNvPr>
          <p:cNvSpPr txBox="1"/>
          <p:nvPr/>
        </p:nvSpPr>
        <p:spPr>
          <a:xfrm>
            <a:off x="800100" y="4889500"/>
            <a:ext cx="3175000" cy="276999"/>
          </a:xfrm>
          <a:prstGeom prst="rect">
            <a:avLst/>
          </a:prstGeom>
          <a:noFill/>
        </p:spPr>
        <p:txBody>
          <a:bodyPr vert="horz" wrap="square" lIns="0" tIns="0" rIns="0" bIns="0" rtlCol="0">
            <a:noAutofit/>
          </a:bodyPr>
          <a:lstStyle/>
          <a:p>
            <a:pPr>
              <a:spcAft>
                <a:spcPts val="800"/>
              </a:spcAft>
            </a:pPr>
            <a:r>
              <a:rPr lang="en-US" sz="1700">
                <a:solidFill>
                  <a:srgbClr val="5A655E"/>
                </a:solidFill>
                <a:latin typeface="Segoe UI" panose="020B0502040204020203" pitchFamily="34" charset="0"/>
              </a:rPr>
              <a:t>user_id, checkout_key
shipping, total, status</a:t>
            </a:r>
            <a:endParaRPr lang="en-IN" sz="1700">
              <a:solidFill>
                <a:srgbClr val="5A655E"/>
              </a:solidFill>
              <a:latin typeface="Segoe UI" panose="020B0502040204020203" pitchFamily="34" charset="0"/>
            </a:endParaRPr>
          </a:p>
        </p:txBody>
      </p:sp>
      <p:sp>
        <p:nvSpPr>
          <p:cNvPr id="22" name="Rectangle 21">
            <a:extLst>
              <a:ext uri="{FF2B5EF4-FFF2-40B4-BE49-F238E27FC236}">
                <a16:creationId xmlns:a16="http://schemas.microsoft.com/office/drawing/2014/main" id="{4BC3A5FD-FA0A-D0D2-95A2-E60458B4A640}"/>
              </a:ext>
            </a:extLst>
          </p:cNvPr>
          <p:cNvSpPr/>
          <p:nvPr/>
        </p:nvSpPr>
        <p:spPr>
          <a:xfrm>
            <a:off x="5803900" y="4292600"/>
            <a:ext cx="4445000" cy="15367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CA7CD078-CD8F-3B6E-0E36-715DCFBC36EF}"/>
              </a:ext>
            </a:extLst>
          </p:cNvPr>
          <p:cNvSpPr txBox="1"/>
          <p:nvPr/>
        </p:nvSpPr>
        <p:spPr>
          <a:xfrm>
            <a:off x="5994400" y="4457700"/>
            <a:ext cx="40640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order_items</a:t>
            </a:r>
          </a:p>
        </p:txBody>
      </p:sp>
      <p:sp>
        <p:nvSpPr>
          <p:cNvPr id="24" name="TextBox 23">
            <a:extLst>
              <a:ext uri="{FF2B5EF4-FFF2-40B4-BE49-F238E27FC236}">
                <a16:creationId xmlns:a16="http://schemas.microsoft.com/office/drawing/2014/main" id="{8F1B93DC-5FA0-5985-3C92-293F8A04A4C8}"/>
              </a:ext>
            </a:extLst>
          </p:cNvPr>
          <p:cNvSpPr txBox="1"/>
          <p:nvPr/>
        </p:nvSpPr>
        <p:spPr>
          <a:xfrm>
            <a:off x="5994400" y="4889500"/>
            <a:ext cx="4064000" cy="276999"/>
          </a:xfrm>
          <a:prstGeom prst="rect">
            <a:avLst/>
          </a:prstGeom>
          <a:noFill/>
        </p:spPr>
        <p:txBody>
          <a:bodyPr vert="horz" wrap="square" lIns="0" tIns="0" rIns="0" bIns="0" rtlCol="0">
            <a:noAutofit/>
          </a:bodyPr>
          <a:lstStyle/>
          <a:p>
            <a:pPr>
              <a:spcAft>
                <a:spcPts val="800"/>
              </a:spcAft>
            </a:pPr>
            <a:r>
              <a:rPr lang="en-US" sz="1700">
                <a:solidFill>
                  <a:srgbClr val="5A655E"/>
                </a:solidFill>
                <a:latin typeface="Segoe UI" panose="020B0502040204020203" pitchFamily="34" charset="0"/>
              </a:rPr>
              <a:t>order_id + product snapshot
name, quantity, price</a:t>
            </a:r>
            <a:endParaRPr lang="en-IN" sz="1700">
              <a:solidFill>
                <a:srgbClr val="5A655E"/>
              </a:solidFill>
              <a:latin typeface="Segoe UI" panose="020B0502040204020203" pitchFamily="34" charset="0"/>
            </a:endParaRPr>
          </a:p>
        </p:txBody>
      </p:sp>
      <p:cxnSp>
        <p:nvCxnSpPr>
          <p:cNvPr id="25" name="Straight Connector 24">
            <a:extLst>
              <a:ext uri="{FF2B5EF4-FFF2-40B4-BE49-F238E27FC236}">
                <a16:creationId xmlns:a16="http://schemas.microsoft.com/office/drawing/2014/main" id="{3094B80C-45EE-645A-E80C-962E7E7C02CE}"/>
              </a:ext>
            </a:extLst>
          </p:cNvPr>
          <p:cNvCxnSpPr/>
          <p:nvPr/>
        </p:nvCxnSpPr>
        <p:spPr>
          <a:xfrm>
            <a:off x="1917700" y="3479800"/>
            <a:ext cx="0" cy="77470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8C132C-E0CF-6EE3-14AB-D89296F77825}"/>
              </a:ext>
            </a:extLst>
          </p:cNvPr>
          <p:cNvCxnSpPr/>
          <p:nvPr/>
        </p:nvCxnSpPr>
        <p:spPr>
          <a:xfrm>
            <a:off x="4178300" y="5067300"/>
            <a:ext cx="15875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D97A3B3-CF5B-169F-71E0-B0D9C357FBCC}"/>
              </a:ext>
            </a:extLst>
          </p:cNvPr>
          <p:cNvSpPr txBox="1"/>
          <p:nvPr/>
        </p:nvSpPr>
        <p:spPr>
          <a:xfrm>
            <a:off x="4445000" y="4699000"/>
            <a:ext cx="1257300" cy="276999"/>
          </a:xfrm>
          <a:prstGeom prst="rect">
            <a:avLst/>
          </a:prstGeom>
          <a:noFill/>
        </p:spPr>
        <p:txBody>
          <a:bodyPr vert="horz" wrap="square" lIns="0" tIns="0" rIns="0" bIns="0" rtlCol="0">
            <a:noAutofit/>
          </a:bodyPr>
          <a:lstStyle/>
          <a:p>
            <a:pPr>
              <a:spcAft>
                <a:spcPts val="800"/>
              </a:spcAft>
            </a:pPr>
            <a:r>
              <a:rPr lang="en-IN" sz="1400">
                <a:solidFill>
                  <a:srgbClr val="5A655E"/>
                </a:solidFill>
                <a:latin typeface="Segoe UI" panose="020B0502040204020203" pitchFamily="34" charset="0"/>
              </a:rPr>
              <a:t>1 : many</a:t>
            </a:r>
          </a:p>
        </p:txBody>
      </p:sp>
    </p:spTree>
    <p:extLst>
      <p:ext uri="{BB962C8B-B14F-4D97-AF65-F5344CB8AC3E}">
        <p14:creationId xmlns:p14="http://schemas.microsoft.com/office/powerpoint/2010/main" val="1810472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01B86C-FD69-D364-7932-8F575417A70D}"/>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Authentication and ownership</a:t>
            </a:r>
          </a:p>
        </p:txBody>
      </p:sp>
      <p:sp>
        <p:nvSpPr>
          <p:cNvPr id="3" name="TextBox 2">
            <a:extLst>
              <a:ext uri="{FF2B5EF4-FFF2-40B4-BE49-F238E27FC236}">
                <a16:creationId xmlns:a16="http://schemas.microsoft.com/office/drawing/2014/main" id="{7B3A8129-EA4A-CDBD-98CA-6A11D2452009}"/>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Every cart, order, and chat operation resolves the user on the server</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54FED936-17D1-3AD4-0989-61F890230B05}"/>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0DB4C8EA-F887-CC56-E6E9-31BD58A49AB0}"/>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06</a:t>
            </a:r>
          </a:p>
        </p:txBody>
      </p:sp>
      <p:sp>
        <p:nvSpPr>
          <p:cNvPr id="6" name="TextBox 5">
            <a:extLst>
              <a:ext uri="{FF2B5EF4-FFF2-40B4-BE49-F238E27FC236}">
                <a16:creationId xmlns:a16="http://schemas.microsoft.com/office/drawing/2014/main" id="{D1216A2C-F5B8-D934-2718-02CE279FDEF2}"/>
              </a:ext>
            </a:extLst>
          </p:cNvPr>
          <p:cNvSpPr txBox="1"/>
          <p:nvPr/>
        </p:nvSpPr>
        <p:spPr>
          <a:xfrm>
            <a:off x="609600" y="20447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01</a:t>
            </a:r>
          </a:p>
        </p:txBody>
      </p:sp>
      <p:sp>
        <p:nvSpPr>
          <p:cNvPr id="7" name="TextBox 6">
            <a:extLst>
              <a:ext uri="{FF2B5EF4-FFF2-40B4-BE49-F238E27FC236}">
                <a16:creationId xmlns:a16="http://schemas.microsoft.com/office/drawing/2014/main" id="{F1C62F68-658C-B10D-9B0C-CF7A753CB4C6}"/>
              </a:ext>
            </a:extLst>
          </p:cNvPr>
          <p:cNvSpPr txBox="1"/>
          <p:nvPr/>
        </p:nvSpPr>
        <p:spPr>
          <a:xfrm>
            <a:off x="1663700" y="2044700"/>
            <a:ext cx="9169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Verify password</a:t>
            </a:r>
          </a:p>
        </p:txBody>
      </p:sp>
      <p:sp>
        <p:nvSpPr>
          <p:cNvPr id="8" name="TextBox 7">
            <a:extLst>
              <a:ext uri="{FF2B5EF4-FFF2-40B4-BE49-F238E27FC236}">
                <a16:creationId xmlns:a16="http://schemas.microsoft.com/office/drawing/2014/main" id="{4F86C9A4-679E-52F4-70AB-48745A25F2B3}"/>
              </a:ext>
            </a:extLst>
          </p:cNvPr>
          <p:cNvSpPr txBox="1"/>
          <p:nvPr/>
        </p:nvSpPr>
        <p:spPr>
          <a:xfrm>
            <a:off x="1663700" y="2489200"/>
            <a:ext cx="93345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Argon2 hash; consistent error for invalid login</a:t>
            </a:r>
            <a:endParaRPr lang="en-IN" sz="1900">
              <a:solidFill>
                <a:srgbClr val="5A655E"/>
              </a:solidFill>
              <a:latin typeface="Segoe UI" panose="020B0502040204020203" pitchFamily="34" charset="0"/>
            </a:endParaRPr>
          </a:p>
        </p:txBody>
      </p:sp>
      <p:sp>
        <p:nvSpPr>
          <p:cNvPr id="9" name="TextBox 8">
            <a:extLst>
              <a:ext uri="{FF2B5EF4-FFF2-40B4-BE49-F238E27FC236}">
                <a16:creationId xmlns:a16="http://schemas.microsoft.com/office/drawing/2014/main" id="{FDB0B519-E21C-F60A-C203-96278B9A9EE7}"/>
              </a:ext>
            </a:extLst>
          </p:cNvPr>
          <p:cNvSpPr txBox="1"/>
          <p:nvPr/>
        </p:nvSpPr>
        <p:spPr>
          <a:xfrm>
            <a:off x="609600" y="30226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02</a:t>
            </a:r>
          </a:p>
        </p:txBody>
      </p:sp>
      <p:sp>
        <p:nvSpPr>
          <p:cNvPr id="10" name="TextBox 9">
            <a:extLst>
              <a:ext uri="{FF2B5EF4-FFF2-40B4-BE49-F238E27FC236}">
                <a16:creationId xmlns:a16="http://schemas.microsoft.com/office/drawing/2014/main" id="{42420847-4913-A38D-F9E3-29E458D8C31A}"/>
              </a:ext>
            </a:extLst>
          </p:cNvPr>
          <p:cNvSpPr txBox="1"/>
          <p:nvPr/>
        </p:nvSpPr>
        <p:spPr>
          <a:xfrm>
            <a:off x="1663700" y="3022600"/>
            <a:ext cx="9169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Issue access token</a:t>
            </a:r>
          </a:p>
        </p:txBody>
      </p:sp>
      <p:sp>
        <p:nvSpPr>
          <p:cNvPr id="11" name="TextBox 10">
            <a:extLst>
              <a:ext uri="{FF2B5EF4-FFF2-40B4-BE49-F238E27FC236}">
                <a16:creationId xmlns:a16="http://schemas.microsoft.com/office/drawing/2014/main" id="{5060AFCC-29D8-96E1-4877-520EFC7DA83B}"/>
              </a:ext>
            </a:extLst>
          </p:cNvPr>
          <p:cNvSpPr txBox="1"/>
          <p:nvPr/>
        </p:nvSpPr>
        <p:spPr>
          <a:xfrm>
            <a:off x="1663700" y="3467100"/>
            <a:ext cx="93345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HS256 JWT with sub, iat, exp; 30-minute expiry</a:t>
            </a:r>
            <a:endParaRPr lang="en-IN" sz="1900">
              <a:solidFill>
                <a:srgbClr val="5A655E"/>
              </a:solidFill>
              <a:latin typeface="Segoe UI" panose="020B0502040204020203" pitchFamily="34" charset="0"/>
            </a:endParaRPr>
          </a:p>
        </p:txBody>
      </p:sp>
      <p:sp>
        <p:nvSpPr>
          <p:cNvPr id="12" name="TextBox 11">
            <a:extLst>
              <a:ext uri="{FF2B5EF4-FFF2-40B4-BE49-F238E27FC236}">
                <a16:creationId xmlns:a16="http://schemas.microsoft.com/office/drawing/2014/main" id="{44047679-0871-0166-EC85-491E5A0701EF}"/>
              </a:ext>
            </a:extLst>
          </p:cNvPr>
          <p:cNvSpPr txBox="1"/>
          <p:nvPr/>
        </p:nvSpPr>
        <p:spPr>
          <a:xfrm>
            <a:off x="609600" y="40005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03</a:t>
            </a:r>
          </a:p>
        </p:txBody>
      </p:sp>
      <p:sp>
        <p:nvSpPr>
          <p:cNvPr id="13" name="TextBox 12">
            <a:extLst>
              <a:ext uri="{FF2B5EF4-FFF2-40B4-BE49-F238E27FC236}">
                <a16:creationId xmlns:a16="http://schemas.microsoft.com/office/drawing/2014/main" id="{2279269B-2E49-4D41-5765-1C7D1F58142B}"/>
              </a:ext>
            </a:extLst>
          </p:cNvPr>
          <p:cNvSpPr txBox="1"/>
          <p:nvPr/>
        </p:nvSpPr>
        <p:spPr>
          <a:xfrm>
            <a:off x="1663700" y="4000500"/>
            <a:ext cx="9169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Validate each request</a:t>
            </a:r>
          </a:p>
        </p:txBody>
      </p:sp>
      <p:sp>
        <p:nvSpPr>
          <p:cNvPr id="14" name="TextBox 13">
            <a:extLst>
              <a:ext uri="{FF2B5EF4-FFF2-40B4-BE49-F238E27FC236}">
                <a16:creationId xmlns:a16="http://schemas.microsoft.com/office/drawing/2014/main" id="{8DB5D331-31F2-04DD-7779-6974BE839227}"/>
              </a:ext>
            </a:extLst>
          </p:cNvPr>
          <p:cNvSpPr txBox="1"/>
          <p:nvPr/>
        </p:nvSpPr>
        <p:spPr>
          <a:xfrm>
            <a:off x="1663700" y="4445000"/>
            <a:ext cx="93345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Signature, expiration, required claims, existing user</a:t>
            </a:r>
            <a:endParaRPr lang="en-IN" sz="1900">
              <a:solidFill>
                <a:srgbClr val="5A655E"/>
              </a:solidFill>
              <a:latin typeface="Segoe UI" panose="020B0502040204020203" pitchFamily="34" charset="0"/>
            </a:endParaRPr>
          </a:p>
        </p:txBody>
      </p:sp>
      <p:sp>
        <p:nvSpPr>
          <p:cNvPr id="15" name="TextBox 14">
            <a:extLst>
              <a:ext uri="{FF2B5EF4-FFF2-40B4-BE49-F238E27FC236}">
                <a16:creationId xmlns:a16="http://schemas.microsoft.com/office/drawing/2014/main" id="{9BD33E07-1D2B-EDE5-8469-EC7E45DD40B0}"/>
              </a:ext>
            </a:extLst>
          </p:cNvPr>
          <p:cNvSpPr txBox="1"/>
          <p:nvPr/>
        </p:nvSpPr>
        <p:spPr>
          <a:xfrm>
            <a:off x="609600" y="49784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04</a:t>
            </a:r>
          </a:p>
        </p:txBody>
      </p:sp>
      <p:sp>
        <p:nvSpPr>
          <p:cNvPr id="16" name="TextBox 15">
            <a:extLst>
              <a:ext uri="{FF2B5EF4-FFF2-40B4-BE49-F238E27FC236}">
                <a16:creationId xmlns:a16="http://schemas.microsoft.com/office/drawing/2014/main" id="{360148B3-FB47-EC4E-281E-8905D375B936}"/>
              </a:ext>
            </a:extLst>
          </p:cNvPr>
          <p:cNvSpPr txBox="1"/>
          <p:nvPr/>
        </p:nvSpPr>
        <p:spPr>
          <a:xfrm>
            <a:off x="1663700" y="4978400"/>
            <a:ext cx="9169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Bind ownership</a:t>
            </a:r>
          </a:p>
        </p:txBody>
      </p:sp>
      <p:sp>
        <p:nvSpPr>
          <p:cNvPr id="17" name="TextBox 16">
            <a:extLst>
              <a:ext uri="{FF2B5EF4-FFF2-40B4-BE49-F238E27FC236}">
                <a16:creationId xmlns:a16="http://schemas.microsoft.com/office/drawing/2014/main" id="{A963D060-4D9F-9905-E441-880FEC3A7F61}"/>
              </a:ext>
            </a:extLst>
          </p:cNvPr>
          <p:cNvSpPr txBox="1"/>
          <p:nvPr/>
        </p:nvSpPr>
        <p:spPr>
          <a:xfrm>
            <a:off x="1663700" y="5422900"/>
            <a:ext cx="93345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Use CurrentUser.id; never trust a supplied user ID</a:t>
            </a:r>
            <a:endParaRPr lang="en-IN" sz="1900">
              <a:solidFill>
                <a:srgbClr val="5A655E"/>
              </a:solidFill>
              <a:latin typeface="Segoe UI" panose="020B0502040204020203" pitchFamily="34" charset="0"/>
            </a:endParaRPr>
          </a:p>
        </p:txBody>
      </p:sp>
    </p:spTree>
    <p:extLst>
      <p:ext uri="{BB962C8B-B14F-4D97-AF65-F5344CB8AC3E}">
        <p14:creationId xmlns:p14="http://schemas.microsoft.com/office/powerpoint/2010/main" val="485094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B171C6-416C-F9CF-A83E-5A36420EF4FA}"/>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Automatic sample catalog</a:t>
            </a:r>
          </a:p>
        </p:txBody>
      </p:sp>
      <p:sp>
        <p:nvSpPr>
          <p:cNvPr id="3" name="TextBox 2">
            <a:extLst>
              <a:ext uri="{FF2B5EF4-FFF2-40B4-BE49-F238E27FC236}">
                <a16:creationId xmlns:a16="http://schemas.microsoft.com/office/drawing/2014/main" id="{D024747E-7EC8-46BA-8910-F75E2B6DFCF4}"/>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Startup adds 12 missing demo products without overwriting existing records</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0190376F-F4D4-1248-F8AC-52A1841C8103}"/>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1F14DEAE-6DB9-0798-9387-6401665CA3AB}"/>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07</a:t>
            </a:r>
          </a:p>
        </p:txBody>
      </p:sp>
      <p:graphicFrame>
        <p:nvGraphicFramePr>
          <p:cNvPr id="6" name="Table 5">
            <a:extLst>
              <a:ext uri="{FF2B5EF4-FFF2-40B4-BE49-F238E27FC236}">
                <a16:creationId xmlns:a16="http://schemas.microsoft.com/office/drawing/2014/main" id="{F67A95EA-D767-F78F-54BB-ACDECBFC1959}"/>
              </a:ext>
            </a:extLst>
          </p:cNvPr>
          <p:cNvGraphicFramePr>
            <a:graphicFrameLocks noGrp="1"/>
          </p:cNvGraphicFramePr>
          <p:nvPr>
            <p:extLst>
              <p:ext uri="{D42A27DB-BD31-4B8C-83A1-F6EECF244321}">
                <p14:modId xmlns:p14="http://schemas.microsoft.com/office/powerpoint/2010/main" val="1596298651"/>
              </p:ext>
            </p:extLst>
          </p:nvPr>
        </p:nvGraphicFramePr>
        <p:xfrm>
          <a:off x="609600" y="1981200"/>
          <a:ext cx="10972800" cy="3175000"/>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1647478958"/>
                    </a:ext>
                  </a:extLst>
                </a:gridCol>
                <a:gridCol w="7581900">
                  <a:extLst>
                    <a:ext uri="{9D8B030D-6E8A-4147-A177-3AD203B41FA5}">
                      <a16:colId xmlns:a16="http://schemas.microsoft.com/office/drawing/2014/main" val="2333330898"/>
                    </a:ext>
                  </a:extLst>
                </a:gridCol>
              </a:tblGrid>
              <a:tr h="529167">
                <a:tc>
                  <a:txBody>
                    <a:bodyPr/>
                    <a:lstStyle/>
                    <a:p>
                      <a:r>
                        <a:rPr lang="en-IN" sz="1700" b="1">
                          <a:solidFill>
                            <a:srgbClr val="FFFFFF"/>
                          </a:solidFill>
                          <a:latin typeface="Segoe UI" panose="020B0502040204020203" pitchFamily="34" charset="0"/>
                        </a:rPr>
                        <a:t>Sample group</a:t>
                      </a:r>
                    </a:p>
                  </a:txBody>
                  <a:tcPr marL="127000" marR="127000" marT="88900" marB="63500">
                    <a:solidFill>
                      <a:srgbClr val="24342C"/>
                    </a:solidFill>
                  </a:tcPr>
                </a:tc>
                <a:tc>
                  <a:txBody>
                    <a:bodyPr/>
                    <a:lstStyle/>
                    <a:p>
                      <a:r>
                        <a:rPr lang="en-IN" sz="1700" b="1">
                          <a:solidFill>
                            <a:srgbClr val="FFFFFF"/>
                          </a:solidFill>
                          <a:latin typeface="Segoe UI" panose="020B0502040204020203" pitchFamily="34" charset="0"/>
                        </a:rPr>
                        <a:t>Example products</a:t>
                      </a:r>
                    </a:p>
                  </a:txBody>
                  <a:tcPr marL="127000" marR="127000" marT="88900" marB="63500">
                    <a:solidFill>
                      <a:srgbClr val="24342C"/>
                    </a:solidFill>
                  </a:tcPr>
                </a:tc>
                <a:extLst>
                  <a:ext uri="{0D108BD9-81ED-4DB2-BD59-A6C34878D82A}">
                    <a16:rowId xmlns:a16="http://schemas.microsoft.com/office/drawing/2014/main" val="450777589"/>
                  </a:ext>
                </a:extLst>
              </a:tr>
              <a:tr h="529167">
                <a:tc>
                  <a:txBody>
                    <a:bodyPr/>
                    <a:lstStyle/>
                    <a:p>
                      <a:r>
                        <a:rPr lang="en-IN" sz="1700" b="0">
                          <a:solidFill>
                            <a:srgbClr val="24342C"/>
                          </a:solidFill>
                          <a:latin typeface="Segoe UI" panose="020B0502040204020203" pitchFamily="34" charset="0"/>
                        </a:rPr>
                        <a:t>Stationery</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Notebook, pen set</a:t>
                      </a:r>
                    </a:p>
                  </a:txBody>
                  <a:tcPr marL="127000" marR="127000" marT="88900" marB="63500">
                    <a:solidFill>
                      <a:srgbClr val="F8F5EE"/>
                    </a:solidFill>
                  </a:tcPr>
                </a:tc>
                <a:extLst>
                  <a:ext uri="{0D108BD9-81ED-4DB2-BD59-A6C34878D82A}">
                    <a16:rowId xmlns:a16="http://schemas.microsoft.com/office/drawing/2014/main" val="3010185852"/>
                  </a:ext>
                </a:extLst>
              </a:tr>
              <a:tr h="529167">
                <a:tc>
                  <a:txBody>
                    <a:bodyPr/>
                    <a:lstStyle/>
                    <a:p>
                      <a:r>
                        <a:rPr lang="en-IN" sz="1700" b="0">
                          <a:solidFill>
                            <a:srgbClr val="24342C"/>
                          </a:solidFill>
                          <a:latin typeface="Segoe UI" panose="020B0502040204020203" pitchFamily="34" charset="0"/>
                        </a:rPr>
                        <a:t>Home + drinkware</a:t>
                      </a:r>
                    </a:p>
                  </a:txBody>
                  <a:tcPr marL="127000" marR="127000" marT="88900" marB="63500">
                    <a:solidFill>
                      <a:srgbClr val="F8F5EE"/>
                    </a:solidFill>
                  </a:tcPr>
                </a:tc>
                <a:tc>
                  <a:txBody>
                    <a:bodyPr/>
                    <a:lstStyle/>
                    <a:p>
                      <a:r>
                        <a:rPr lang="en-US" sz="1700" b="0">
                          <a:solidFill>
                            <a:srgbClr val="24342C"/>
                          </a:solidFill>
                          <a:latin typeface="Segoe UI" panose="020B0502040204020203" pitchFamily="34" charset="0"/>
                        </a:rPr>
                        <a:t>Mug, water bottle, lamp, candle</a:t>
                      </a:r>
                      <a:endParaRPr lang="en-IN" sz="1700" b="0">
                        <a:solidFill>
                          <a:srgbClr val="24342C"/>
                        </a:solidFill>
                        <a:latin typeface="Segoe UI" panose="020B0502040204020203" pitchFamily="34" charset="0"/>
                      </a:endParaRPr>
                    </a:p>
                  </a:txBody>
                  <a:tcPr marL="127000" marR="127000" marT="88900" marB="63500">
                    <a:solidFill>
                      <a:srgbClr val="F8F5EE"/>
                    </a:solidFill>
                  </a:tcPr>
                </a:tc>
                <a:extLst>
                  <a:ext uri="{0D108BD9-81ED-4DB2-BD59-A6C34878D82A}">
                    <a16:rowId xmlns:a16="http://schemas.microsoft.com/office/drawing/2014/main" val="211106240"/>
                  </a:ext>
                </a:extLst>
              </a:tr>
              <a:tr h="529167">
                <a:tc>
                  <a:txBody>
                    <a:bodyPr/>
                    <a:lstStyle/>
                    <a:p>
                      <a:r>
                        <a:rPr lang="en-IN" sz="1700" b="0">
                          <a:solidFill>
                            <a:srgbClr val="24342C"/>
                          </a:solidFill>
                          <a:latin typeface="Segoe UI" panose="020B0502040204020203" pitchFamily="34" charset="0"/>
                        </a:rPr>
                        <a:t>Clothing + bags</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T-shirt, tote bag</a:t>
                      </a:r>
                    </a:p>
                  </a:txBody>
                  <a:tcPr marL="127000" marR="127000" marT="88900" marB="63500">
                    <a:solidFill>
                      <a:srgbClr val="F8F5EE"/>
                    </a:solidFill>
                  </a:tcPr>
                </a:tc>
                <a:extLst>
                  <a:ext uri="{0D108BD9-81ED-4DB2-BD59-A6C34878D82A}">
                    <a16:rowId xmlns:a16="http://schemas.microsoft.com/office/drawing/2014/main" val="3331659199"/>
                  </a:ext>
                </a:extLst>
              </a:tr>
              <a:tr h="529167">
                <a:tc>
                  <a:txBody>
                    <a:bodyPr/>
                    <a:lstStyle/>
                    <a:p>
                      <a:r>
                        <a:rPr lang="en-IN" sz="1700" b="0">
                          <a:solidFill>
                            <a:srgbClr val="24342C"/>
                          </a:solidFill>
                          <a:latin typeface="Segoe UI" panose="020B0502040204020203" pitchFamily="34" charset="0"/>
                        </a:rPr>
                        <a:t>Electronics</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Mouse, cable, Bluetooth speaker</a:t>
                      </a:r>
                    </a:p>
                  </a:txBody>
                  <a:tcPr marL="127000" marR="127000" marT="88900" marB="63500">
                    <a:solidFill>
                      <a:srgbClr val="F8F5EE"/>
                    </a:solidFill>
                  </a:tcPr>
                </a:tc>
                <a:extLst>
                  <a:ext uri="{0D108BD9-81ED-4DB2-BD59-A6C34878D82A}">
                    <a16:rowId xmlns:a16="http://schemas.microsoft.com/office/drawing/2014/main" val="996760177"/>
                  </a:ext>
                </a:extLst>
              </a:tr>
              <a:tr h="529167">
                <a:tc>
                  <a:txBody>
                    <a:bodyPr/>
                    <a:lstStyle/>
                    <a:p>
                      <a:r>
                        <a:rPr lang="en-IN" sz="1700" b="0">
                          <a:solidFill>
                            <a:srgbClr val="24342C"/>
                          </a:solidFill>
                          <a:latin typeface="Segoe UI" panose="020B0502040204020203" pitchFamily="34" charset="0"/>
                        </a:rPr>
                        <a:t>Fitness</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Yoga mat</a:t>
                      </a:r>
                    </a:p>
                  </a:txBody>
                  <a:tcPr marL="127000" marR="127000" marT="88900" marB="63500">
                    <a:solidFill>
                      <a:srgbClr val="F8F5EE"/>
                    </a:solidFill>
                  </a:tcPr>
                </a:tc>
                <a:extLst>
                  <a:ext uri="{0D108BD9-81ED-4DB2-BD59-A6C34878D82A}">
                    <a16:rowId xmlns:a16="http://schemas.microsoft.com/office/drawing/2014/main" val="4035192850"/>
                  </a:ext>
                </a:extLst>
              </a:tr>
            </a:tbl>
          </a:graphicData>
        </a:graphic>
      </p:graphicFrame>
      <p:sp>
        <p:nvSpPr>
          <p:cNvPr id="7" name="TextBox 6">
            <a:extLst>
              <a:ext uri="{FF2B5EF4-FFF2-40B4-BE49-F238E27FC236}">
                <a16:creationId xmlns:a16="http://schemas.microsoft.com/office/drawing/2014/main" id="{32914FC9-6F99-13C6-B54D-1D3615F634CA}"/>
              </a:ext>
            </a:extLst>
          </p:cNvPr>
          <p:cNvSpPr txBox="1"/>
          <p:nvPr/>
        </p:nvSpPr>
        <p:spPr>
          <a:xfrm>
            <a:off x="635000" y="5422900"/>
            <a:ext cx="10464800" cy="276999"/>
          </a:xfrm>
          <a:prstGeom prst="rect">
            <a:avLst/>
          </a:prstGeom>
          <a:noFill/>
        </p:spPr>
        <p:txBody>
          <a:bodyPr vert="horz" wrap="square" lIns="0" tIns="0" rIns="0" bIns="0" rtlCol="0">
            <a:noAutofit/>
          </a:bodyPr>
          <a:lstStyle/>
          <a:p>
            <a:pPr>
              <a:spcAft>
                <a:spcPts val="800"/>
              </a:spcAft>
            </a:pPr>
            <a:r>
              <a:rPr lang="en-US" sz="2000">
                <a:solidFill>
                  <a:srgbClr val="24342C"/>
                </a:solidFill>
                <a:latin typeface="Segoe UI" panose="020B0502040204020203" pitchFamily="34" charset="0"/>
              </a:rPr>
              <a:t>Name matching avoids restart duplicates. Edited prices and stock remain unchanged.</a:t>
            </a:r>
            <a:endParaRPr lang="en-IN" sz="2000">
              <a:solidFill>
                <a:srgbClr val="24342C"/>
              </a:solidFill>
              <a:latin typeface="Segoe UI" panose="020B0502040204020203" pitchFamily="34" charset="0"/>
            </a:endParaRPr>
          </a:p>
        </p:txBody>
      </p:sp>
    </p:spTree>
    <p:extLst>
      <p:ext uri="{BB962C8B-B14F-4D97-AF65-F5344CB8AC3E}">
        <p14:creationId xmlns:p14="http://schemas.microsoft.com/office/powerpoint/2010/main" val="717285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E4CCD-3466-2A8A-D40A-20E08AB53A35}"/>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Cart behavior</a:t>
            </a:r>
          </a:p>
        </p:txBody>
      </p:sp>
      <p:sp>
        <p:nvSpPr>
          <p:cNvPr id="3" name="TextBox 2">
            <a:extLst>
              <a:ext uri="{FF2B5EF4-FFF2-40B4-BE49-F238E27FC236}">
                <a16:creationId xmlns:a16="http://schemas.microsoft.com/office/drawing/2014/main" id="{9B64B9EA-0792-19F1-333F-CB2700A6E744}"/>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The HTTP endpoints and assistant reuse the same cart service</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FFA54F73-9262-2DBE-ACC7-019F08464531}"/>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DE75C8EF-6B46-B836-C137-6CD591FAE8CA}"/>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08</a:t>
            </a:r>
          </a:p>
        </p:txBody>
      </p:sp>
      <p:sp>
        <p:nvSpPr>
          <p:cNvPr id="6" name="TextBox 5">
            <a:extLst>
              <a:ext uri="{FF2B5EF4-FFF2-40B4-BE49-F238E27FC236}">
                <a16:creationId xmlns:a16="http://schemas.microsoft.com/office/drawing/2014/main" id="{FC4F4E56-EF1B-3647-13F5-484558DE872F}"/>
              </a:ext>
            </a:extLst>
          </p:cNvPr>
          <p:cNvSpPr txBox="1"/>
          <p:nvPr/>
        </p:nvSpPr>
        <p:spPr>
          <a:xfrm>
            <a:off x="609600" y="2120900"/>
            <a:ext cx="4826000" cy="276999"/>
          </a:xfrm>
          <a:prstGeom prst="rect">
            <a:avLst/>
          </a:prstGeom>
          <a:noFill/>
        </p:spPr>
        <p:txBody>
          <a:bodyPr vert="horz" wrap="square" lIns="0" tIns="0" rIns="0" bIns="0" rtlCol="0">
            <a:noAutofit/>
          </a:bodyPr>
          <a:lstStyle/>
          <a:p>
            <a:pPr>
              <a:spcAft>
                <a:spcPts val="800"/>
              </a:spcAft>
            </a:pPr>
            <a:r>
              <a:rPr lang="en-IN" sz="2600" b="1">
                <a:solidFill>
                  <a:srgbClr val="AE553E"/>
                </a:solidFill>
                <a:latin typeface="Segoe UI" panose="020B0502040204020203" pitchFamily="34" charset="0"/>
              </a:rPr>
              <a:t>Shopper actions</a:t>
            </a:r>
          </a:p>
        </p:txBody>
      </p:sp>
      <p:sp>
        <p:nvSpPr>
          <p:cNvPr id="7" name="TextBox 6">
            <a:extLst>
              <a:ext uri="{FF2B5EF4-FFF2-40B4-BE49-F238E27FC236}">
                <a16:creationId xmlns:a16="http://schemas.microsoft.com/office/drawing/2014/main" id="{E6874730-F5B2-1CA8-9CF5-08FBEE50C138}"/>
              </a:ext>
            </a:extLst>
          </p:cNvPr>
          <p:cNvSpPr txBox="1"/>
          <p:nvPr/>
        </p:nvSpPr>
        <p:spPr>
          <a:xfrm>
            <a:off x="609600" y="2870200"/>
            <a:ext cx="4914900" cy="276999"/>
          </a:xfrm>
          <a:prstGeom prst="rect">
            <a:avLst/>
          </a:prstGeom>
          <a:noFill/>
        </p:spPr>
        <p:txBody>
          <a:bodyPr vert="horz" wrap="square" lIns="0" tIns="0" rIns="0" bIns="0" rtlCol="0">
            <a:noAutofit/>
          </a:bodyPr>
          <a:lstStyle/>
          <a:p>
            <a:pPr>
              <a:spcAft>
                <a:spcPts val="800"/>
              </a:spcAft>
            </a:pPr>
            <a:r>
              <a:rPr lang="en-US" sz="2300">
                <a:solidFill>
                  <a:srgbClr val="24342C"/>
                </a:solidFill>
                <a:latin typeface="Segoe UI" panose="020B0502040204020203" pitchFamily="34" charset="0"/>
              </a:rPr>
              <a:t>Add a quantity to an existing line
Replace quantity or remove an item
See current prices and subtotal</a:t>
            </a:r>
            <a:endParaRPr lang="en-IN" sz="2300">
              <a:solidFill>
                <a:srgbClr val="24342C"/>
              </a:solidFill>
              <a:latin typeface="Segoe UI" panose="020B0502040204020203" pitchFamily="34" charset="0"/>
            </a:endParaRPr>
          </a:p>
        </p:txBody>
      </p:sp>
      <p:sp>
        <p:nvSpPr>
          <p:cNvPr id="8" name="TextBox 7">
            <a:extLst>
              <a:ext uri="{FF2B5EF4-FFF2-40B4-BE49-F238E27FC236}">
                <a16:creationId xmlns:a16="http://schemas.microsoft.com/office/drawing/2014/main" id="{7B8120DE-BCC6-4F36-5CCB-4491D796960C}"/>
              </a:ext>
            </a:extLst>
          </p:cNvPr>
          <p:cNvSpPr txBox="1"/>
          <p:nvPr/>
        </p:nvSpPr>
        <p:spPr>
          <a:xfrm>
            <a:off x="6553200" y="2120900"/>
            <a:ext cx="5016500" cy="276999"/>
          </a:xfrm>
          <a:prstGeom prst="rect">
            <a:avLst/>
          </a:prstGeom>
          <a:noFill/>
        </p:spPr>
        <p:txBody>
          <a:bodyPr vert="horz" wrap="square" lIns="0" tIns="0" rIns="0" bIns="0" rtlCol="0">
            <a:noAutofit/>
          </a:bodyPr>
          <a:lstStyle/>
          <a:p>
            <a:pPr>
              <a:spcAft>
                <a:spcPts val="800"/>
              </a:spcAft>
            </a:pPr>
            <a:r>
              <a:rPr lang="en-IN" sz="2600" b="1">
                <a:solidFill>
                  <a:srgbClr val="AE553E"/>
                </a:solidFill>
                <a:latin typeface="Segoe UI" panose="020B0502040204020203" pitchFamily="34" charset="0"/>
              </a:rPr>
              <a:t>Server checks</a:t>
            </a:r>
          </a:p>
        </p:txBody>
      </p:sp>
      <p:sp>
        <p:nvSpPr>
          <p:cNvPr id="9" name="TextBox 8">
            <a:extLst>
              <a:ext uri="{FF2B5EF4-FFF2-40B4-BE49-F238E27FC236}">
                <a16:creationId xmlns:a16="http://schemas.microsoft.com/office/drawing/2014/main" id="{7AC8064A-27B9-740A-CEF9-D26CCFD057E2}"/>
              </a:ext>
            </a:extLst>
          </p:cNvPr>
          <p:cNvSpPr txBox="1"/>
          <p:nvPr/>
        </p:nvSpPr>
        <p:spPr>
          <a:xfrm>
            <a:off x="6553200" y="2870200"/>
            <a:ext cx="4978400" cy="276999"/>
          </a:xfrm>
          <a:prstGeom prst="rect">
            <a:avLst/>
          </a:prstGeom>
          <a:noFill/>
        </p:spPr>
        <p:txBody>
          <a:bodyPr vert="horz" wrap="square" lIns="0" tIns="0" rIns="0" bIns="0" rtlCol="0">
            <a:noAutofit/>
          </a:bodyPr>
          <a:lstStyle/>
          <a:p>
            <a:pPr>
              <a:spcAft>
                <a:spcPts val="800"/>
              </a:spcAft>
            </a:pPr>
            <a:r>
              <a:rPr lang="en-US" sz="2300">
                <a:solidFill>
                  <a:srgbClr val="24342C"/>
                </a:solidFill>
                <a:latin typeface="Segoe UI" panose="020B0502040204020203" pitchFamily="34" charset="0"/>
              </a:rPr>
              <a:t>Authenticated cart owner
Existing and available product
Maximum 100 units per product
Deleted products remain removable</a:t>
            </a:r>
            <a:endParaRPr lang="en-IN" sz="2300">
              <a:solidFill>
                <a:srgbClr val="24342C"/>
              </a:solidFill>
              <a:latin typeface="Segoe UI" panose="020B0502040204020203" pitchFamily="34" charset="0"/>
            </a:endParaRPr>
          </a:p>
        </p:txBody>
      </p:sp>
    </p:spTree>
    <p:extLst>
      <p:ext uri="{BB962C8B-B14F-4D97-AF65-F5344CB8AC3E}">
        <p14:creationId xmlns:p14="http://schemas.microsoft.com/office/powerpoint/2010/main" val="3889629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1A24AF-B587-3DA6-1FBD-7D1B0F50EBB8}"/>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US" sz="3400" b="1">
                <a:solidFill>
                  <a:srgbClr val="24342C"/>
                </a:solidFill>
                <a:latin typeface="Segoe UI" panose="020B0502040204020203" pitchFamily="34" charset="0"/>
              </a:rPr>
              <a:t>Agent adds a product to the bag</a:t>
            </a:r>
            <a:endParaRPr lang="en-IN" sz="3400" b="1">
              <a:solidFill>
                <a:srgbClr val="24342C"/>
              </a:solidFill>
              <a:latin typeface="Segoe UI" panose="020B0502040204020203" pitchFamily="34" charset="0"/>
            </a:endParaRPr>
          </a:p>
        </p:txBody>
      </p:sp>
      <p:sp>
        <p:nvSpPr>
          <p:cNvPr id="3" name="TextBox 2">
            <a:extLst>
              <a:ext uri="{FF2B5EF4-FFF2-40B4-BE49-F238E27FC236}">
                <a16:creationId xmlns:a16="http://schemas.microsoft.com/office/drawing/2014/main" id="{28A91459-A7F9-6851-4DED-AD8EF2E66B83}"/>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Example: "Add 2 ceramic coffee mugs to my cart"</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969AA40E-3E99-B3B3-1BD7-9FE0CC11DDA1}"/>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BFEF080E-3D60-6D4F-97E1-2C6A5D90461C}"/>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09</a:t>
            </a:r>
          </a:p>
        </p:txBody>
      </p:sp>
      <p:sp>
        <p:nvSpPr>
          <p:cNvPr id="6" name="Rectangle 5">
            <a:extLst>
              <a:ext uri="{FF2B5EF4-FFF2-40B4-BE49-F238E27FC236}">
                <a16:creationId xmlns:a16="http://schemas.microsoft.com/office/drawing/2014/main" id="{4647CC15-2F71-6C59-588A-F35CD8B28CAC}"/>
              </a:ext>
            </a:extLst>
          </p:cNvPr>
          <p:cNvSpPr/>
          <p:nvPr/>
        </p:nvSpPr>
        <p:spPr>
          <a:xfrm>
            <a:off x="609600" y="2082800"/>
            <a:ext cx="3238500" cy="1346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BE2AAA0-9BE8-AEB6-E410-1DB91B52A67D}"/>
              </a:ext>
            </a:extLst>
          </p:cNvPr>
          <p:cNvSpPr txBox="1"/>
          <p:nvPr/>
        </p:nvSpPr>
        <p:spPr>
          <a:xfrm>
            <a:off x="800100" y="2247900"/>
            <a:ext cx="285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1. Authenticate</a:t>
            </a:r>
          </a:p>
        </p:txBody>
      </p:sp>
      <p:sp>
        <p:nvSpPr>
          <p:cNvPr id="8" name="TextBox 7">
            <a:extLst>
              <a:ext uri="{FF2B5EF4-FFF2-40B4-BE49-F238E27FC236}">
                <a16:creationId xmlns:a16="http://schemas.microsoft.com/office/drawing/2014/main" id="{AB6F287F-5EEE-0F7A-9702-36ABB0F14CE0}"/>
              </a:ext>
            </a:extLst>
          </p:cNvPr>
          <p:cNvSpPr txBox="1"/>
          <p:nvPr/>
        </p:nvSpPr>
        <p:spPr>
          <a:xfrm>
            <a:off x="800100" y="2679700"/>
            <a:ext cx="28575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Resolve bearer token</a:t>
            </a:r>
          </a:p>
        </p:txBody>
      </p:sp>
      <p:sp>
        <p:nvSpPr>
          <p:cNvPr id="9" name="Rectangle 8">
            <a:extLst>
              <a:ext uri="{FF2B5EF4-FFF2-40B4-BE49-F238E27FC236}">
                <a16:creationId xmlns:a16="http://schemas.microsoft.com/office/drawing/2014/main" id="{4899B001-7504-D202-3E3C-500DAD3F7250}"/>
              </a:ext>
            </a:extLst>
          </p:cNvPr>
          <p:cNvSpPr/>
          <p:nvPr/>
        </p:nvSpPr>
        <p:spPr>
          <a:xfrm>
            <a:off x="4470400" y="2082800"/>
            <a:ext cx="3238500" cy="1346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807F866-35F9-C7E7-12AB-AF81EBF97390}"/>
              </a:ext>
            </a:extLst>
          </p:cNvPr>
          <p:cNvSpPr txBox="1"/>
          <p:nvPr/>
        </p:nvSpPr>
        <p:spPr>
          <a:xfrm>
            <a:off x="4660900" y="2247900"/>
            <a:ext cx="285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2. Find product</a:t>
            </a:r>
          </a:p>
        </p:txBody>
      </p:sp>
      <p:sp>
        <p:nvSpPr>
          <p:cNvPr id="11" name="TextBox 10">
            <a:extLst>
              <a:ext uri="{FF2B5EF4-FFF2-40B4-BE49-F238E27FC236}">
                <a16:creationId xmlns:a16="http://schemas.microsoft.com/office/drawing/2014/main" id="{B0167B5D-B497-F710-9EB7-7582D8DBA745}"/>
              </a:ext>
            </a:extLst>
          </p:cNvPr>
          <p:cNvSpPr txBox="1"/>
          <p:nvPr/>
        </p:nvSpPr>
        <p:spPr>
          <a:xfrm>
            <a:off x="4660900" y="2679700"/>
            <a:ext cx="28575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list_products -&gt; actual ID</a:t>
            </a:r>
          </a:p>
        </p:txBody>
      </p:sp>
      <p:sp>
        <p:nvSpPr>
          <p:cNvPr id="12" name="Rectangle 11">
            <a:extLst>
              <a:ext uri="{FF2B5EF4-FFF2-40B4-BE49-F238E27FC236}">
                <a16:creationId xmlns:a16="http://schemas.microsoft.com/office/drawing/2014/main" id="{3102AA28-1B1D-3E07-4053-F4C8ABAD9F09}"/>
              </a:ext>
            </a:extLst>
          </p:cNvPr>
          <p:cNvSpPr/>
          <p:nvPr/>
        </p:nvSpPr>
        <p:spPr>
          <a:xfrm>
            <a:off x="8331200" y="2082800"/>
            <a:ext cx="3238500" cy="1346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B983A67-FC9C-ABF2-0186-FBCD6EC210C0}"/>
              </a:ext>
            </a:extLst>
          </p:cNvPr>
          <p:cNvSpPr txBox="1"/>
          <p:nvPr/>
        </p:nvSpPr>
        <p:spPr>
          <a:xfrm>
            <a:off x="8521700" y="2247900"/>
            <a:ext cx="285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3. Call cart tool</a:t>
            </a:r>
          </a:p>
        </p:txBody>
      </p:sp>
      <p:sp>
        <p:nvSpPr>
          <p:cNvPr id="14" name="TextBox 13">
            <a:extLst>
              <a:ext uri="{FF2B5EF4-FFF2-40B4-BE49-F238E27FC236}">
                <a16:creationId xmlns:a16="http://schemas.microsoft.com/office/drawing/2014/main" id="{BDF457E5-9ACD-1C35-8C00-AFFE08C28754}"/>
              </a:ext>
            </a:extLst>
          </p:cNvPr>
          <p:cNvSpPr txBox="1"/>
          <p:nvPr/>
        </p:nvSpPr>
        <p:spPr>
          <a:xfrm>
            <a:off x="8521700" y="2679700"/>
            <a:ext cx="28575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Product ID + quantity only</a:t>
            </a:r>
          </a:p>
        </p:txBody>
      </p:sp>
      <p:cxnSp>
        <p:nvCxnSpPr>
          <p:cNvPr id="15" name="Straight Connector 14">
            <a:extLst>
              <a:ext uri="{FF2B5EF4-FFF2-40B4-BE49-F238E27FC236}">
                <a16:creationId xmlns:a16="http://schemas.microsoft.com/office/drawing/2014/main" id="{FAB89F8C-2A76-B530-BB11-4CA65221DFE5}"/>
              </a:ext>
            </a:extLst>
          </p:cNvPr>
          <p:cNvCxnSpPr/>
          <p:nvPr/>
        </p:nvCxnSpPr>
        <p:spPr>
          <a:xfrm>
            <a:off x="3860800" y="2717800"/>
            <a:ext cx="5715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43413B8-BE61-CD3B-3A03-25A134A9492A}"/>
              </a:ext>
            </a:extLst>
          </p:cNvPr>
          <p:cNvCxnSpPr/>
          <p:nvPr/>
        </p:nvCxnSpPr>
        <p:spPr>
          <a:xfrm>
            <a:off x="7721600" y="2717800"/>
            <a:ext cx="5715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2699C50-5D1F-F38D-69B6-4DAED4C9712F}"/>
              </a:ext>
            </a:extLst>
          </p:cNvPr>
          <p:cNvSpPr/>
          <p:nvPr/>
        </p:nvSpPr>
        <p:spPr>
          <a:xfrm>
            <a:off x="609600" y="4140200"/>
            <a:ext cx="3238500" cy="1346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9A5C4D4D-19D4-BFD0-55B6-B517B3795844}"/>
              </a:ext>
            </a:extLst>
          </p:cNvPr>
          <p:cNvSpPr txBox="1"/>
          <p:nvPr/>
        </p:nvSpPr>
        <p:spPr>
          <a:xfrm>
            <a:off x="800100" y="4305300"/>
            <a:ext cx="285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4. Save to SQLite</a:t>
            </a:r>
          </a:p>
        </p:txBody>
      </p:sp>
      <p:sp>
        <p:nvSpPr>
          <p:cNvPr id="19" name="TextBox 18">
            <a:extLst>
              <a:ext uri="{FF2B5EF4-FFF2-40B4-BE49-F238E27FC236}">
                <a16:creationId xmlns:a16="http://schemas.microsoft.com/office/drawing/2014/main" id="{40F202E7-1492-6FFF-CDB3-56C5EE32BC8B}"/>
              </a:ext>
            </a:extLst>
          </p:cNvPr>
          <p:cNvSpPr txBox="1"/>
          <p:nvPr/>
        </p:nvSpPr>
        <p:spPr>
          <a:xfrm>
            <a:off x="800100" y="4737100"/>
            <a:ext cx="2857500" cy="276999"/>
          </a:xfrm>
          <a:prstGeom prst="rect">
            <a:avLst/>
          </a:prstGeom>
          <a:noFill/>
        </p:spPr>
        <p:txBody>
          <a:bodyPr vert="horz" wrap="square" lIns="0" tIns="0" rIns="0" bIns="0" rtlCol="0">
            <a:noAutofit/>
          </a:bodyPr>
          <a:lstStyle/>
          <a:p>
            <a:pPr>
              <a:spcAft>
                <a:spcPts val="800"/>
              </a:spcAft>
            </a:pPr>
            <a:r>
              <a:rPr lang="en-US" sz="1700">
                <a:solidFill>
                  <a:srgbClr val="5A655E"/>
                </a:solidFill>
                <a:latin typeface="Segoe UI" panose="020B0502040204020203" pitchFamily="34" charset="0"/>
              </a:rPr>
              <a:t>User ID bound by server</a:t>
            </a:r>
            <a:endParaRPr lang="en-IN" sz="1700">
              <a:solidFill>
                <a:srgbClr val="5A655E"/>
              </a:solidFill>
              <a:latin typeface="Segoe UI" panose="020B0502040204020203" pitchFamily="34" charset="0"/>
            </a:endParaRPr>
          </a:p>
        </p:txBody>
      </p:sp>
      <p:sp>
        <p:nvSpPr>
          <p:cNvPr id="20" name="Rectangle 19">
            <a:extLst>
              <a:ext uri="{FF2B5EF4-FFF2-40B4-BE49-F238E27FC236}">
                <a16:creationId xmlns:a16="http://schemas.microsoft.com/office/drawing/2014/main" id="{33876319-F82F-9008-F5D1-76F0688B535A}"/>
              </a:ext>
            </a:extLst>
          </p:cNvPr>
          <p:cNvSpPr/>
          <p:nvPr/>
        </p:nvSpPr>
        <p:spPr>
          <a:xfrm>
            <a:off x="4470400" y="4140200"/>
            <a:ext cx="3238500" cy="1346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8E97A420-A636-BD05-D6A7-5752E29EA177}"/>
              </a:ext>
            </a:extLst>
          </p:cNvPr>
          <p:cNvSpPr txBox="1"/>
          <p:nvPr/>
        </p:nvSpPr>
        <p:spPr>
          <a:xfrm>
            <a:off x="4660900" y="4305300"/>
            <a:ext cx="285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5. Reply</a:t>
            </a:r>
          </a:p>
        </p:txBody>
      </p:sp>
      <p:sp>
        <p:nvSpPr>
          <p:cNvPr id="22" name="TextBox 21">
            <a:extLst>
              <a:ext uri="{FF2B5EF4-FFF2-40B4-BE49-F238E27FC236}">
                <a16:creationId xmlns:a16="http://schemas.microsoft.com/office/drawing/2014/main" id="{4A267E63-22E3-BE4D-16E2-F0B50C787F0F}"/>
              </a:ext>
            </a:extLst>
          </p:cNvPr>
          <p:cNvSpPr txBox="1"/>
          <p:nvPr/>
        </p:nvSpPr>
        <p:spPr>
          <a:xfrm>
            <a:off x="4660900" y="4737100"/>
            <a:ext cx="28575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Confirm tool success</a:t>
            </a:r>
          </a:p>
        </p:txBody>
      </p:sp>
      <p:sp>
        <p:nvSpPr>
          <p:cNvPr id="23" name="Rectangle 22">
            <a:extLst>
              <a:ext uri="{FF2B5EF4-FFF2-40B4-BE49-F238E27FC236}">
                <a16:creationId xmlns:a16="http://schemas.microsoft.com/office/drawing/2014/main" id="{884262B7-D60F-D6E2-38C6-FB101B9DC446}"/>
              </a:ext>
            </a:extLst>
          </p:cNvPr>
          <p:cNvSpPr/>
          <p:nvPr/>
        </p:nvSpPr>
        <p:spPr>
          <a:xfrm>
            <a:off x="8331200" y="4140200"/>
            <a:ext cx="3238500" cy="1346200"/>
          </a:xfrm>
          <a:prstGeom prst="rect">
            <a:avLst/>
          </a:prstGeom>
          <a:solidFill>
            <a:srgbClr val="E4EB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C92A85B6-04B9-EDB2-BDFC-8DDCFA5E616C}"/>
              </a:ext>
            </a:extLst>
          </p:cNvPr>
          <p:cNvSpPr txBox="1"/>
          <p:nvPr/>
        </p:nvSpPr>
        <p:spPr>
          <a:xfrm>
            <a:off x="8521700" y="4305300"/>
            <a:ext cx="2857500" cy="276999"/>
          </a:xfrm>
          <a:prstGeom prst="rect">
            <a:avLst/>
          </a:prstGeom>
          <a:noFill/>
        </p:spPr>
        <p:txBody>
          <a:bodyPr vert="horz" wrap="square" lIns="0" tIns="0" rIns="0" bIns="0" rtlCol="0">
            <a:noAutofit/>
          </a:bodyPr>
          <a:lstStyle/>
          <a:p>
            <a:pPr>
              <a:spcAft>
                <a:spcPts val="800"/>
              </a:spcAft>
            </a:pPr>
            <a:r>
              <a:rPr lang="en-IN" sz="1900" b="1">
                <a:solidFill>
                  <a:srgbClr val="24342C"/>
                </a:solidFill>
                <a:latin typeface="Segoe UI" panose="020B0502040204020203" pitchFamily="34" charset="0"/>
              </a:rPr>
              <a:t>6. Refresh bag</a:t>
            </a:r>
          </a:p>
        </p:txBody>
      </p:sp>
      <p:sp>
        <p:nvSpPr>
          <p:cNvPr id="25" name="TextBox 24">
            <a:extLst>
              <a:ext uri="{FF2B5EF4-FFF2-40B4-BE49-F238E27FC236}">
                <a16:creationId xmlns:a16="http://schemas.microsoft.com/office/drawing/2014/main" id="{5A8B7F6C-9BF0-37D0-8211-C13A0F818F64}"/>
              </a:ext>
            </a:extLst>
          </p:cNvPr>
          <p:cNvSpPr txBox="1"/>
          <p:nvPr/>
        </p:nvSpPr>
        <p:spPr>
          <a:xfrm>
            <a:off x="8521700" y="4737100"/>
            <a:ext cx="2857500" cy="276999"/>
          </a:xfrm>
          <a:prstGeom prst="rect">
            <a:avLst/>
          </a:prstGeom>
          <a:noFill/>
        </p:spPr>
        <p:txBody>
          <a:bodyPr vert="horz" wrap="square" lIns="0" tIns="0" rIns="0" bIns="0" rtlCol="0">
            <a:noAutofit/>
          </a:bodyPr>
          <a:lstStyle/>
          <a:p>
            <a:pPr>
              <a:spcAft>
                <a:spcPts val="800"/>
              </a:spcAft>
            </a:pPr>
            <a:r>
              <a:rPr lang="en-IN" sz="1700">
                <a:solidFill>
                  <a:srgbClr val="5A655E"/>
                </a:solidFill>
                <a:latin typeface="Segoe UI" panose="020B0502040204020203" pitchFamily="34" charset="0"/>
              </a:rPr>
              <a:t>Update count and contents</a:t>
            </a:r>
          </a:p>
        </p:txBody>
      </p:sp>
      <p:cxnSp>
        <p:nvCxnSpPr>
          <p:cNvPr id="26" name="Straight Connector 25">
            <a:extLst>
              <a:ext uri="{FF2B5EF4-FFF2-40B4-BE49-F238E27FC236}">
                <a16:creationId xmlns:a16="http://schemas.microsoft.com/office/drawing/2014/main" id="{5BB89A0A-0592-CFF6-602E-D194FD03F479}"/>
              </a:ext>
            </a:extLst>
          </p:cNvPr>
          <p:cNvCxnSpPr/>
          <p:nvPr/>
        </p:nvCxnSpPr>
        <p:spPr>
          <a:xfrm>
            <a:off x="3860800" y="4775200"/>
            <a:ext cx="5715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EBDD7C9-AAF6-DB19-0764-307F7C9B3395}"/>
              </a:ext>
            </a:extLst>
          </p:cNvPr>
          <p:cNvCxnSpPr/>
          <p:nvPr/>
        </p:nvCxnSpPr>
        <p:spPr>
          <a:xfrm>
            <a:off x="7721600" y="4775200"/>
            <a:ext cx="571500" cy="0"/>
          </a:xfrm>
          <a:prstGeom prst="line">
            <a:avLst/>
          </a:prstGeom>
          <a:ln w="19050">
            <a:solidFill>
              <a:srgbClr val="C7CEC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89B96DF-A808-1ED6-2C39-312878DF650E}"/>
              </a:ext>
            </a:extLst>
          </p:cNvPr>
          <p:cNvSpPr txBox="1"/>
          <p:nvPr/>
        </p:nvSpPr>
        <p:spPr>
          <a:xfrm>
            <a:off x="635000" y="3568700"/>
            <a:ext cx="10883900" cy="276999"/>
          </a:xfrm>
          <a:prstGeom prst="rect">
            <a:avLst/>
          </a:prstGeom>
          <a:noFill/>
        </p:spPr>
        <p:txBody>
          <a:bodyPr vert="horz" wrap="square" lIns="0" tIns="0" rIns="0" bIns="0" rtlCol="0">
            <a:noAutofit/>
          </a:bodyPr>
          <a:lstStyle/>
          <a:p>
            <a:pPr>
              <a:spcAft>
                <a:spcPts val="800"/>
              </a:spcAft>
            </a:pPr>
            <a:r>
              <a:rPr lang="en-US" sz="1600">
                <a:solidFill>
                  <a:srgbClr val="5A655E"/>
                </a:solidFill>
                <a:latin typeface="Segoe UI" panose="020B0502040204020203" pitchFamily="34" charset="0"/>
              </a:rPr>
              <a:t>Flow continues from step 3 to step 4</a:t>
            </a:r>
            <a:endParaRPr lang="en-IN" sz="1600">
              <a:solidFill>
                <a:srgbClr val="5A655E"/>
              </a:solidFill>
              <a:latin typeface="Segoe UI" panose="020B0502040204020203" pitchFamily="34" charset="0"/>
            </a:endParaRPr>
          </a:p>
        </p:txBody>
      </p:sp>
    </p:spTree>
    <p:extLst>
      <p:ext uri="{BB962C8B-B14F-4D97-AF65-F5344CB8AC3E}">
        <p14:creationId xmlns:p14="http://schemas.microsoft.com/office/powerpoint/2010/main" val="104472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F9B452-A156-2245-FECF-75E4C0BAC33F}"/>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US" sz="3400" b="1">
                <a:solidFill>
                  <a:srgbClr val="24342C"/>
                </a:solidFill>
                <a:latin typeface="Segoe UI" panose="020B0502040204020203" pitchFamily="34" charset="0"/>
              </a:rPr>
              <a:t>Conversation memory and policy retrieval</a:t>
            </a:r>
            <a:endParaRPr lang="en-IN" sz="3400" b="1">
              <a:solidFill>
                <a:srgbClr val="24342C"/>
              </a:solidFill>
              <a:latin typeface="Segoe UI" panose="020B0502040204020203" pitchFamily="34" charset="0"/>
            </a:endParaRPr>
          </a:p>
        </p:txBody>
      </p:sp>
      <p:sp>
        <p:nvSpPr>
          <p:cNvPr id="3" name="TextBox 2">
            <a:extLst>
              <a:ext uri="{FF2B5EF4-FFF2-40B4-BE49-F238E27FC236}">
                <a16:creationId xmlns:a16="http://schemas.microsoft.com/office/drawing/2014/main" id="{D2A09D7E-3AC7-78CB-CDB4-B51132D87B5E}"/>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Conversation context and store knowledge follow different paths</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C6D05E73-AA4D-93DF-14EB-F1D63B0F00F5}"/>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EBFDC978-91E6-52D9-2AC2-DADA4A953CCD}"/>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10</a:t>
            </a:r>
          </a:p>
        </p:txBody>
      </p:sp>
      <p:sp>
        <p:nvSpPr>
          <p:cNvPr id="6" name="TextBox 5">
            <a:extLst>
              <a:ext uri="{FF2B5EF4-FFF2-40B4-BE49-F238E27FC236}">
                <a16:creationId xmlns:a16="http://schemas.microsoft.com/office/drawing/2014/main" id="{1DFAB910-020F-A51B-035D-B997C1F5565A}"/>
              </a:ext>
            </a:extLst>
          </p:cNvPr>
          <p:cNvSpPr txBox="1"/>
          <p:nvPr/>
        </p:nvSpPr>
        <p:spPr>
          <a:xfrm>
            <a:off x="609600" y="2006600"/>
            <a:ext cx="5054600" cy="276999"/>
          </a:xfrm>
          <a:prstGeom prst="rect">
            <a:avLst/>
          </a:prstGeom>
          <a:noFill/>
        </p:spPr>
        <p:txBody>
          <a:bodyPr vert="horz" wrap="square" lIns="0" tIns="0" rIns="0" bIns="0" rtlCol="0">
            <a:noAutofit/>
          </a:bodyPr>
          <a:lstStyle/>
          <a:p>
            <a:pPr>
              <a:spcAft>
                <a:spcPts val="800"/>
              </a:spcAft>
            </a:pPr>
            <a:r>
              <a:rPr lang="en-IN" sz="2600" b="1">
                <a:solidFill>
                  <a:srgbClr val="AE553E"/>
                </a:solidFill>
                <a:latin typeface="Segoe UI" panose="020B0502040204020203" pitchFamily="34" charset="0"/>
              </a:rPr>
              <a:t>Chat context</a:t>
            </a:r>
          </a:p>
        </p:txBody>
      </p:sp>
      <p:sp>
        <p:nvSpPr>
          <p:cNvPr id="7" name="TextBox 6">
            <a:extLst>
              <a:ext uri="{FF2B5EF4-FFF2-40B4-BE49-F238E27FC236}">
                <a16:creationId xmlns:a16="http://schemas.microsoft.com/office/drawing/2014/main" id="{0E413A89-580D-8544-3A01-0C3C5CD884BE}"/>
              </a:ext>
            </a:extLst>
          </p:cNvPr>
          <p:cNvSpPr txBox="1"/>
          <p:nvPr/>
        </p:nvSpPr>
        <p:spPr>
          <a:xfrm>
            <a:off x="609600" y="2768600"/>
            <a:ext cx="5194300" cy="276999"/>
          </a:xfrm>
          <a:prstGeom prst="rect">
            <a:avLst/>
          </a:prstGeom>
          <a:noFill/>
        </p:spPr>
        <p:txBody>
          <a:bodyPr vert="horz" wrap="square" lIns="0" tIns="0" rIns="0" bIns="0" rtlCol="0">
            <a:noAutofit/>
          </a:bodyPr>
          <a:lstStyle/>
          <a:p>
            <a:pPr>
              <a:spcAft>
                <a:spcPts val="800"/>
              </a:spcAft>
            </a:pPr>
            <a:r>
              <a:rPr lang="en-US" sz="2100">
                <a:solidFill>
                  <a:srgbClr val="24342C"/>
                </a:solidFill>
                <a:latin typeface="Segoe UI" panose="020B0502040204020203" pitchFamily="34" charset="0"/>
              </a:rPr>
              <a:t>Browser memory: chatHistory[]
Last 12 successful messages
Sent with each new message
Cleared on refresh or sign-out
No persistent agent checkpointer</a:t>
            </a:r>
            <a:endParaRPr lang="en-IN" sz="2100">
              <a:solidFill>
                <a:srgbClr val="24342C"/>
              </a:solidFill>
              <a:latin typeface="Segoe UI" panose="020B0502040204020203" pitchFamily="34" charset="0"/>
            </a:endParaRPr>
          </a:p>
        </p:txBody>
      </p:sp>
      <p:sp>
        <p:nvSpPr>
          <p:cNvPr id="8" name="TextBox 7">
            <a:extLst>
              <a:ext uri="{FF2B5EF4-FFF2-40B4-BE49-F238E27FC236}">
                <a16:creationId xmlns:a16="http://schemas.microsoft.com/office/drawing/2014/main" id="{045BB876-E220-A598-81F0-209FE09C2512}"/>
              </a:ext>
            </a:extLst>
          </p:cNvPr>
          <p:cNvSpPr txBox="1"/>
          <p:nvPr/>
        </p:nvSpPr>
        <p:spPr>
          <a:xfrm>
            <a:off x="6578600" y="2006600"/>
            <a:ext cx="4978400" cy="276999"/>
          </a:xfrm>
          <a:prstGeom prst="rect">
            <a:avLst/>
          </a:prstGeom>
          <a:noFill/>
        </p:spPr>
        <p:txBody>
          <a:bodyPr vert="horz" wrap="square" lIns="0" tIns="0" rIns="0" bIns="0" rtlCol="0">
            <a:noAutofit/>
          </a:bodyPr>
          <a:lstStyle/>
          <a:p>
            <a:pPr>
              <a:spcAft>
                <a:spcPts val="800"/>
              </a:spcAft>
            </a:pPr>
            <a:r>
              <a:rPr lang="en-IN" sz="2600" b="1">
                <a:solidFill>
                  <a:srgbClr val="AE553E"/>
                </a:solidFill>
                <a:latin typeface="Segoe UI" panose="020B0502040204020203" pitchFamily="34" charset="0"/>
              </a:rPr>
              <a:t>Policy knowledge</a:t>
            </a:r>
          </a:p>
        </p:txBody>
      </p:sp>
      <p:sp>
        <p:nvSpPr>
          <p:cNvPr id="9" name="TextBox 8">
            <a:extLst>
              <a:ext uri="{FF2B5EF4-FFF2-40B4-BE49-F238E27FC236}">
                <a16:creationId xmlns:a16="http://schemas.microsoft.com/office/drawing/2014/main" id="{8B271923-8BAB-0A96-053F-18D174315E49}"/>
              </a:ext>
            </a:extLst>
          </p:cNvPr>
          <p:cNvSpPr txBox="1"/>
          <p:nvPr/>
        </p:nvSpPr>
        <p:spPr>
          <a:xfrm>
            <a:off x="6578600" y="2768600"/>
            <a:ext cx="4978400" cy="276999"/>
          </a:xfrm>
          <a:prstGeom prst="rect">
            <a:avLst/>
          </a:prstGeom>
          <a:noFill/>
        </p:spPr>
        <p:txBody>
          <a:bodyPr vert="horz" wrap="square" lIns="0" tIns="0" rIns="0" bIns="0" rtlCol="0">
            <a:noAutofit/>
          </a:bodyPr>
          <a:lstStyle/>
          <a:p>
            <a:pPr>
              <a:spcAft>
                <a:spcPts val="800"/>
              </a:spcAft>
            </a:pPr>
            <a:r>
              <a:rPr lang="en-US" sz="2100">
                <a:solidFill>
                  <a:srgbClr val="24342C"/>
                </a:solidFill>
                <a:latin typeface="Segoe UI" panose="020B0502040204020203" pitchFamily="34" charset="0"/>
              </a:rPr>
              <a:t>Policy PDF -&gt; chunks -&gt; FAISS
1,000 characters / 200 overlap
Retrieve four similar passages
Return source + page numbers
Manual ingest; live products use SQL</a:t>
            </a:r>
            <a:endParaRPr lang="en-IN" sz="2100">
              <a:solidFill>
                <a:srgbClr val="24342C"/>
              </a:solidFill>
              <a:latin typeface="Segoe UI" panose="020B0502040204020203" pitchFamily="34" charset="0"/>
            </a:endParaRPr>
          </a:p>
        </p:txBody>
      </p:sp>
    </p:spTree>
    <p:extLst>
      <p:ext uri="{BB962C8B-B14F-4D97-AF65-F5344CB8AC3E}">
        <p14:creationId xmlns:p14="http://schemas.microsoft.com/office/powerpoint/2010/main" val="2737098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81B3CC-B0BA-3327-20AC-2D926FFAE34E}"/>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Checkout and order replay</a:t>
            </a:r>
          </a:p>
        </p:txBody>
      </p:sp>
      <p:sp>
        <p:nvSpPr>
          <p:cNvPr id="3" name="TextBox 2">
            <a:extLst>
              <a:ext uri="{FF2B5EF4-FFF2-40B4-BE49-F238E27FC236}">
                <a16:creationId xmlns:a16="http://schemas.microsoft.com/office/drawing/2014/main" id="{4D1FCA4F-AF2B-3499-A2FA-F202CAEE77A3}"/>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One transaction saves snapshots and clears the bag</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4D8D3B26-36C1-FFDA-20BF-672076DBB01D}"/>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8E9EBEDB-68D0-92D6-5A58-1D62D50DBD8E}"/>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11</a:t>
            </a:r>
          </a:p>
        </p:txBody>
      </p:sp>
      <p:sp>
        <p:nvSpPr>
          <p:cNvPr id="6" name="TextBox 5">
            <a:extLst>
              <a:ext uri="{FF2B5EF4-FFF2-40B4-BE49-F238E27FC236}">
                <a16:creationId xmlns:a16="http://schemas.microsoft.com/office/drawing/2014/main" id="{746854D5-CF2B-85CE-2E5D-341D912B9793}"/>
              </a:ext>
            </a:extLst>
          </p:cNvPr>
          <p:cNvSpPr txBox="1"/>
          <p:nvPr/>
        </p:nvSpPr>
        <p:spPr>
          <a:xfrm>
            <a:off x="609600" y="20066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01</a:t>
            </a:r>
          </a:p>
        </p:txBody>
      </p:sp>
      <p:sp>
        <p:nvSpPr>
          <p:cNvPr id="7" name="TextBox 6">
            <a:extLst>
              <a:ext uri="{FF2B5EF4-FFF2-40B4-BE49-F238E27FC236}">
                <a16:creationId xmlns:a16="http://schemas.microsoft.com/office/drawing/2014/main" id="{B6726A64-565E-932E-3710-DD94139E973B}"/>
              </a:ext>
            </a:extLst>
          </p:cNvPr>
          <p:cNvSpPr txBox="1"/>
          <p:nvPr/>
        </p:nvSpPr>
        <p:spPr>
          <a:xfrm>
            <a:off x="1663700" y="2006600"/>
            <a:ext cx="9550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Review items and shipping</a:t>
            </a:r>
          </a:p>
        </p:txBody>
      </p:sp>
      <p:sp>
        <p:nvSpPr>
          <p:cNvPr id="8" name="TextBox 7">
            <a:extLst>
              <a:ext uri="{FF2B5EF4-FFF2-40B4-BE49-F238E27FC236}">
                <a16:creationId xmlns:a16="http://schemas.microsoft.com/office/drawing/2014/main" id="{2C74D2F1-20CF-80E7-A26F-8DEBA6525BB1}"/>
              </a:ext>
            </a:extLst>
          </p:cNvPr>
          <p:cNvSpPr txBox="1"/>
          <p:nvPr/>
        </p:nvSpPr>
        <p:spPr>
          <a:xfrm>
            <a:off x="1663700" y="2451100"/>
            <a:ext cx="9550400" cy="276999"/>
          </a:xfrm>
          <a:prstGeom prst="rect">
            <a:avLst/>
          </a:prstGeom>
          <a:noFill/>
        </p:spPr>
        <p:txBody>
          <a:bodyPr vert="horz" wrap="square" lIns="0" tIns="0" rIns="0" bIns="0" rtlCol="0">
            <a:noAutofit/>
          </a:bodyPr>
          <a:lstStyle/>
          <a:p>
            <a:pPr>
              <a:spcAft>
                <a:spcPts val="800"/>
              </a:spcAft>
            </a:pPr>
            <a:r>
              <a:rPr lang="en-IN" sz="1900">
                <a:solidFill>
                  <a:srgbClr val="5A655E"/>
                </a:solidFill>
                <a:latin typeface="Segoe UI" panose="020B0502040204020203" pitchFamily="34" charset="0"/>
              </a:rPr>
              <a:t>Client sends quantities, prices, total, and a UUID</a:t>
            </a:r>
          </a:p>
        </p:txBody>
      </p:sp>
      <p:sp>
        <p:nvSpPr>
          <p:cNvPr id="9" name="TextBox 8">
            <a:extLst>
              <a:ext uri="{FF2B5EF4-FFF2-40B4-BE49-F238E27FC236}">
                <a16:creationId xmlns:a16="http://schemas.microsoft.com/office/drawing/2014/main" id="{9811F764-69F4-4845-1F48-823950459504}"/>
              </a:ext>
            </a:extLst>
          </p:cNvPr>
          <p:cNvSpPr txBox="1"/>
          <p:nvPr/>
        </p:nvSpPr>
        <p:spPr>
          <a:xfrm>
            <a:off x="609600" y="29718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02</a:t>
            </a:r>
          </a:p>
        </p:txBody>
      </p:sp>
      <p:sp>
        <p:nvSpPr>
          <p:cNvPr id="10" name="TextBox 9">
            <a:extLst>
              <a:ext uri="{FF2B5EF4-FFF2-40B4-BE49-F238E27FC236}">
                <a16:creationId xmlns:a16="http://schemas.microsoft.com/office/drawing/2014/main" id="{C87CF792-38AB-AEF1-AB2B-FA755BB224A7}"/>
              </a:ext>
            </a:extLst>
          </p:cNvPr>
          <p:cNvSpPr txBox="1"/>
          <p:nvPr/>
        </p:nvSpPr>
        <p:spPr>
          <a:xfrm>
            <a:off x="1663700" y="2971800"/>
            <a:ext cx="9550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Lock and compare</a:t>
            </a:r>
          </a:p>
        </p:txBody>
      </p:sp>
      <p:sp>
        <p:nvSpPr>
          <p:cNvPr id="11" name="TextBox 10">
            <a:extLst>
              <a:ext uri="{FF2B5EF4-FFF2-40B4-BE49-F238E27FC236}">
                <a16:creationId xmlns:a16="http://schemas.microsoft.com/office/drawing/2014/main" id="{44AE8891-D9E6-26A3-72E4-1A1E7AB81050}"/>
              </a:ext>
            </a:extLst>
          </p:cNvPr>
          <p:cNvSpPr txBox="1"/>
          <p:nvPr/>
        </p:nvSpPr>
        <p:spPr>
          <a:xfrm>
            <a:off x="1663700" y="3416300"/>
            <a:ext cx="95504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SQLite BEGIN IMMEDIATE; verify current catalog/cart</a:t>
            </a:r>
            <a:endParaRPr lang="en-IN" sz="1900">
              <a:solidFill>
                <a:srgbClr val="5A655E"/>
              </a:solidFill>
              <a:latin typeface="Segoe UI" panose="020B0502040204020203" pitchFamily="34" charset="0"/>
            </a:endParaRPr>
          </a:p>
        </p:txBody>
      </p:sp>
      <p:sp>
        <p:nvSpPr>
          <p:cNvPr id="12" name="TextBox 11">
            <a:extLst>
              <a:ext uri="{FF2B5EF4-FFF2-40B4-BE49-F238E27FC236}">
                <a16:creationId xmlns:a16="http://schemas.microsoft.com/office/drawing/2014/main" id="{86787AF5-5456-910B-5117-42EEFAB05C16}"/>
              </a:ext>
            </a:extLst>
          </p:cNvPr>
          <p:cNvSpPr txBox="1"/>
          <p:nvPr/>
        </p:nvSpPr>
        <p:spPr>
          <a:xfrm>
            <a:off x="609600" y="39370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03</a:t>
            </a:r>
          </a:p>
        </p:txBody>
      </p:sp>
      <p:sp>
        <p:nvSpPr>
          <p:cNvPr id="13" name="TextBox 12">
            <a:extLst>
              <a:ext uri="{FF2B5EF4-FFF2-40B4-BE49-F238E27FC236}">
                <a16:creationId xmlns:a16="http://schemas.microsoft.com/office/drawing/2014/main" id="{C9C57537-74BE-4DD9-190B-42C5420FC460}"/>
              </a:ext>
            </a:extLst>
          </p:cNvPr>
          <p:cNvSpPr txBox="1"/>
          <p:nvPr/>
        </p:nvSpPr>
        <p:spPr>
          <a:xfrm>
            <a:off x="1663700" y="3937000"/>
            <a:ext cx="9550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Save atomically</a:t>
            </a:r>
          </a:p>
        </p:txBody>
      </p:sp>
      <p:sp>
        <p:nvSpPr>
          <p:cNvPr id="14" name="TextBox 13">
            <a:extLst>
              <a:ext uri="{FF2B5EF4-FFF2-40B4-BE49-F238E27FC236}">
                <a16:creationId xmlns:a16="http://schemas.microsoft.com/office/drawing/2014/main" id="{E76FD7C8-7482-CE0B-EE6B-CC09A7F9DCB9}"/>
              </a:ext>
            </a:extLst>
          </p:cNvPr>
          <p:cNvSpPr txBox="1"/>
          <p:nvPr/>
        </p:nvSpPr>
        <p:spPr>
          <a:xfrm>
            <a:off x="1663700" y="4381500"/>
            <a:ext cx="95504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Insert pending_payment order + snapshots; clear cart</a:t>
            </a:r>
            <a:endParaRPr lang="en-IN" sz="1900">
              <a:solidFill>
                <a:srgbClr val="5A655E"/>
              </a:solidFill>
              <a:latin typeface="Segoe UI" panose="020B0502040204020203" pitchFamily="34" charset="0"/>
            </a:endParaRPr>
          </a:p>
        </p:txBody>
      </p:sp>
      <p:sp>
        <p:nvSpPr>
          <p:cNvPr id="15" name="TextBox 14">
            <a:extLst>
              <a:ext uri="{FF2B5EF4-FFF2-40B4-BE49-F238E27FC236}">
                <a16:creationId xmlns:a16="http://schemas.microsoft.com/office/drawing/2014/main" id="{D1DC467B-58C6-A8DB-2444-DC754EEA5899}"/>
              </a:ext>
            </a:extLst>
          </p:cNvPr>
          <p:cNvSpPr txBox="1"/>
          <p:nvPr/>
        </p:nvSpPr>
        <p:spPr>
          <a:xfrm>
            <a:off x="609600" y="4902200"/>
            <a:ext cx="787400" cy="276999"/>
          </a:xfrm>
          <a:prstGeom prst="rect">
            <a:avLst/>
          </a:prstGeom>
          <a:noFill/>
        </p:spPr>
        <p:txBody>
          <a:bodyPr vert="horz" wrap="square" lIns="0" tIns="0" rIns="0" bIns="0" rtlCol="0">
            <a:noAutofit/>
          </a:bodyPr>
          <a:lstStyle/>
          <a:p>
            <a:pPr>
              <a:spcAft>
                <a:spcPts val="800"/>
              </a:spcAft>
            </a:pPr>
            <a:r>
              <a:rPr lang="en-IN" sz="2900" b="1">
                <a:solidFill>
                  <a:srgbClr val="AE553E"/>
                </a:solidFill>
                <a:latin typeface="Segoe UI" panose="020B0502040204020203" pitchFamily="34" charset="0"/>
              </a:rPr>
              <a:t>04</a:t>
            </a:r>
          </a:p>
        </p:txBody>
      </p:sp>
      <p:sp>
        <p:nvSpPr>
          <p:cNvPr id="16" name="TextBox 15">
            <a:extLst>
              <a:ext uri="{FF2B5EF4-FFF2-40B4-BE49-F238E27FC236}">
                <a16:creationId xmlns:a16="http://schemas.microsoft.com/office/drawing/2014/main" id="{1799922A-F9B1-05A3-1085-8D629B8C1449}"/>
              </a:ext>
            </a:extLst>
          </p:cNvPr>
          <p:cNvSpPr txBox="1"/>
          <p:nvPr/>
        </p:nvSpPr>
        <p:spPr>
          <a:xfrm>
            <a:off x="1663700" y="4902200"/>
            <a:ext cx="9550400" cy="276999"/>
          </a:xfrm>
          <a:prstGeom prst="rect">
            <a:avLst/>
          </a:prstGeom>
          <a:noFill/>
        </p:spPr>
        <p:txBody>
          <a:bodyPr vert="horz" wrap="square" lIns="0" tIns="0" rIns="0" bIns="0" rtlCol="0">
            <a:noAutofit/>
          </a:bodyPr>
          <a:lstStyle/>
          <a:p>
            <a:pPr>
              <a:spcAft>
                <a:spcPts val="800"/>
              </a:spcAft>
            </a:pPr>
            <a:r>
              <a:rPr lang="en-IN" sz="2300" b="1">
                <a:solidFill>
                  <a:srgbClr val="24342C"/>
                </a:solidFill>
                <a:latin typeface="Segoe UI" panose="020B0502040204020203" pitchFamily="34" charset="0"/>
              </a:rPr>
              <a:t>Replay safely</a:t>
            </a:r>
          </a:p>
        </p:txBody>
      </p:sp>
      <p:sp>
        <p:nvSpPr>
          <p:cNvPr id="17" name="TextBox 16">
            <a:extLst>
              <a:ext uri="{FF2B5EF4-FFF2-40B4-BE49-F238E27FC236}">
                <a16:creationId xmlns:a16="http://schemas.microsoft.com/office/drawing/2014/main" id="{E7D28B38-6D4A-B397-C216-771DDDDBEA85}"/>
              </a:ext>
            </a:extLst>
          </p:cNvPr>
          <p:cNvSpPr txBox="1"/>
          <p:nvPr/>
        </p:nvSpPr>
        <p:spPr>
          <a:xfrm>
            <a:off x="1663700" y="5346700"/>
            <a:ext cx="95504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Same UUID + same payload returns the existing order</a:t>
            </a:r>
            <a:endParaRPr lang="en-IN" sz="1900">
              <a:solidFill>
                <a:srgbClr val="5A655E"/>
              </a:solidFill>
              <a:latin typeface="Segoe UI" panose="020B0502040204020203" pitchFamily="34" charset="0"/>
            </a:endParaRPr>
          </a:p>
        </p:txBody>
      </p:sp>
    </p:spTree>
    <p:extLst>
      <p:ext uri="{BB962C8B-B14F-4D97-AF65-F5344CB8AC3E}">
        <p14:creationId xmlns:p14="http://schemas.microsoft.com/office/powerpoint/2010/main" val="46368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905D50-CF3E-AF23-2B8D-D6C0348BF3FF}"/>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Failure handling</a:t>
            </a:r>
          </a:p>
        </p:txBody>
      </p:sp>
      <p:sp>
        <p:nvSpPr>
          <p:cNvPr id="3" name="TextBox 2">
            <a:extLst>
              <a:ext uri="{FF2B5EF4-FFF2-40B4-BE49-F238E27FC236}">
                <a16:creationId xmlns:a16="http://schemas.microsoft.com/office/drawing/2014/main" id="{BBAC8CAF-551F-2A2F-C481-EBEBEF8278FE}"/>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The UI explains recoverable errors without exposing provider secrets</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2C57C33A-0EE3-8E3F-C4E3-1DCDF9DD1E21}"/>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5D199494-9630-510C-9DA0-BCAEF27E7770}"/>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12</a:t>
            </a:r>
          </a:p>
        </p:txBody>
      </p:sp>
      <p:graphicFrame>
        <p:nvGraphicFramePr>
          <p:cNvPr id="6" name="Table 5">
            <a:extLst>
              <a:ext uri="{FF2B5EF4-FFF2-40B4-BE49-F238E27FC236}">
                <a16:creationId xmlns:a16="http://schemas.microsoft.com/office/drawing/2014/main" id="{C6CAC03A-FA34-F30E-96A2-63EA6138A6F1}"/>
              </a:ext>
            </a:extLst>
          </p:cNvPr>
          <p:cNvGraphicFramePr>
            <a:graphicFrameLocks noGrp="1"/>
          </p:cNvGraphicFramePr>
          <p:nvPr>
            <p:extLst>
              <p:ext uri="{D42A27DB-BD31-4B8C-83A1-F6EECF244321}">
                <p14:modId xmlns:p14="http://schemas.microsoft.com/office/powerpoint/2010/main" val="13429906"/>
              </p:ext>
            </p:extLst>
          </p:nvPr>
        </p:nvGraphicFramePr>
        <p:xfrm>
          <a:off x="609600" y="1943100"/>
          <a:ext cx="10972800" cy="3962400"/>
        </p:xfrm>
        <a:graphic>
          <a:graphicData uri="http://schemas.openxmlformats.org/drawingml/2006/table">
            <a:tbl>
              <a:tblPr firstRow="1" bandRow="1">
                <a:tableStyleId>{5C22544A-7EE6-4342-B048-85BDC9FD1C3A}</a:tableStyleId>
              </a:tblPr>
              <a:tblGrid>
                <a:gridCol w="1206500">
                  <a:extLst>
                    <a:ext uri="{9D8B030D-6E8A-4147-A177-3AD203B41FA5}">
                      <a16:colId xmlns:a16="http://schemas.microsoft.com/office/drawing/2014/main" val="392793300"/>
                    </a:ext>
                  </a:extLst>
                </a:gridCol>
                <a:gridCol w="6096000">
                  <a:extLst>
                    <a:ext uri="{9D8B030D-6E8A-4147-A177-3AD203B41FA5}">
                      <a16:colId xmlns:a16="http://schemas.microsoft.com/office/drawing/2014/main" val="2576335832"/>
                    </a:ext>
                  </a:extLst>
                </a:gridCol>
                <a:gridCol w="3670300">
                  <a:extLst>
                    <a:ext uri="{9D8B030D-6E8A-4147-A177-3AD203B41FA5}">
                      <a16:colId xmlns:a16="http://schemas.microsoft.com/office/drawing/2014/main" val="197088431"/>
                    </a:ext>
                  </a:extLst>
                </a:gridCol>
              </a:tblGrid>
              <a:tr h="566057">
                <a:tc>
                  <a:txBody>
                    <a:bodyPr/>
                    <a:lstStyle/>
                    <a:p>
                      <a:r>
                        <a:rPr lang="en-IN" sz="1700" b="1">
                          <a:solidFill>
                            <a:srgbClr val="FFFFFF"/>
                          </a:solidFill>
                          <a:latin typeface="Segoe UI" panose="020B0502040204020203" pitchFamily="34" charset="0"/>
                        </a:rPr>
                        <a:t>HTTP</a:t>
                      </a:r>
                    </a:p>
                  </a:txBody>
                  <a:tcPr marL="127000" marR="127000" marT="88900" marB="63500">
                    <a:solidFill>
                      <a:srgbClr val="24342C"/>
                    </a:solidFill>
                  </a:tcPr>
                </a:tc>
                <a:tc>
                  <a:txBody>
                    <a:bodyPr/>
                    <a:lstStyle/>
                    <a:p>
                      <a:r>
                        <a:rPr lang="en-IN" sz="1700" b="1">
                          <a:solidFill>
                            <a:srgbClr val="FFFFFF"/>
                          </a:solidFill>
                          <a:latin typeface="Segoe UI" panose="020B0502040204020203" pitchFamily="34" charset="0"/>
                        </a:rPr>
                        <a:t>Condition</a:t>
                      </a:r>
                    </a:p>
                  </a:txBody>
                  <a:tcPr marL="127000" marR="127000" marT="88900" marB="63500">
                    <a:solidFill>
                      <a:srgbClr val="24342C"/>
                    </a:solidFill>
                  </a:tcPr>
                </a:tc>
                <a:tc>
                  <a:txBody>
                    <a:bodyPr/>
                    <a:lstStyle/>
                    <a:p>
                      <a:r>
                        <a:rPr lang="en-IN" sz="1700" b="1">
                          <a:solidFill>
                            <a:srgbClr val="FFFFFF"/>
                          </a:solidFill>
                          <a:latin typeface="Segoe UI" panose="020B0502040204020203" pitchFamily="34" charset="0"/>
                        </a:rPr>
                        <a:t>Shopper action</a:t>
                      </a:r>
                    </a:p>
                  </a:txBody>
                  <a:tcPr marL="127000" marR="127000" marT="88900" marB="63500">
                    <a:solidFill>
                      <a:srgbClr val="24342C"/>
                    </a:solidFill>
                  </a:tcPr>
                </a:tc>
                <a:extLst>
                  <a:ext uri="{0D108BD9-81ED-4DB2-BD59-A6C34878D82A}">
                    <a16:rowId xmlns:a16="http://schemas.microsoft.com/office/drawing/2014/main" val="1961582567"/>
                  </a:ext>
                </a:extLst>
              </a:tr>
              <a:tr h="566057">
                <a:tc>
                  <a:txBody>
                    <a:bodyPr/>
                    <a:lstStyle/>
                    <a:p>
                      <a:r>
                        <a:rPr lang="en-IN" sz="1700" b="0">
                          <a:solidFill>
                            <a:srgbClr val="24342C"/>
                          </a:solidFill>
                          <a:latin typeface="Segoe UI" panose="020B0502040204020203" pitchFamily="34" charset="0"/>
                        </a:rPr>
                        <a:t>401</a:t>
                      </a:r>
                    </a:p>
                  </a:txBody>
                  <a:tcPr marL="127000" marR="127000" marT="88900" marB="63500">
                    <a:solidFill>
                      <a:srgbClr val="F8F5EE"/>
                    </a:solidFill>
                  </a:tcPr>
                </a:tc>
                <a:tc>
                  <a:txBody>
                    <a:bodyPr/>
                    <a:lstStyle/>
                    <a:p>
                      <a:r>
                        <a:rPr lang="en-US" sz="1700" b="0">
                          <a:solidFill>
                            <a:srgbClr val="24342C"/>
                          </a:solidFill>
                          <a:latin typeface="Segoe UI" panose="020B0502040204020203" pitchFamily="34" charset="0"/>
                        </a:rPr>
                        <a:t>Missing, invalid or expired login</a:t>
                      </a:r>
                      <a:endParaRPr lang="en-IN" sz="1700" b="0">
                        <a:solidFill>
                          <a:srgbClr val="24342C"/>
                        </a:solidFill>
                        <a:latin typeface="Segoe UI" panose="020B0502040204020203" pitchFamily="34" charset="0"/>
                      </a:endParaRP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Sign in again</a:t>
                      </a:r>
                    </a:p>
                  </a:txBody>
                  <a:tcPr marL="127000" marR="127000" marT="88900" marB="63500">
                    <a:solidFill>
                      <a:srgbClr val="F8F5EE"/>
                    </a:solidFill>
                  </a:tcPr>
                </a:tc>
                <a:extLst>
                  <a:ext uri="{0D108BD9-81ED-4DB2-BD59-A6C34878D82A}">
                    <a16:rowId xmlns:a16="http://schemas.microsoft.com/office/drawing/2014/main" val="3544917939"/>
                  </a:ext>
                </a:extLst>
              </a:tr>
              <a:tr h="566057">
                <a:tc>
                  <a:txBody>
                    <a:bodyPr/>
                    <a:lstStyle/>
                    <a:p>
                      <a:r>
                        <a:rPr lang="en-IN" sz="1700" b="0">
                          <a:solidFill>
                            <a:srgbClr val="24342C"/>
                          </a:solidFill>
                          <a:latin typeface="Segoe UI" panose="020B0502040204020203" pitchFamily="34" charset="0"/>
                        </a:rPr>
                        <a:t>404</a:t>
                      </a:r>
                    </a:p>
                  </a:txBody>
                  <a:tcPr marL="127000" marR="127000" marT="88900" marB="63500">
                    <a:solidFill>
                      <a:srgbClr val="F8F5EE"/>
                    </a:solidFill>
                  </a:tcPr>
                </a:tc>
                <a:tc>
                  <a:txBody>
                    <a:bodyPr/>
                    <a:lstStyle/>
                    <a:p>
                      <a:r>
                        <a:rPr lang="en-US" sz="1700" b="0">
                          <a:solidFill>
                            <a:srgbClr val="24342C"/>
                          </a:solidFill>
                          <a:latin typeface="Segoe UI" panose="020B0502040204020203" pitchFamily="34" charset="0"/>
                        </a:rPr>
                        <a:t>Missing / unowned cart or order</a:t>
                      </a:r>
                      <a:endParaRPr lang="en-IN" sz="1700" b="0">
                        <a:solidFill>
                          <a:srgbClr val="24342C"/>
                        </a:solidFill>
                        <a:latin typeface="Segoe UI" panose="020B0502040204020203" pitchFamily="34" charset="0"/>
                      </a:endParaRP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Refresh the view</a:t>
                      </a:r>
                    </a:p>
                  </a:txBody>
                  <a:tcPr marL="127000" marR="127000" marT="88900" marB="63500">
                    <a:solidFill>
                      <a:srgbClr val="F8F5EE"/>
                    </a:solidFill>
                  </a:tcPr>
                </a:tc>
                <a:extLst>
                  <a:ext uri="{0D108BD9-81ED-4DB2-BD59-A6C34878D82A}">
                    <a16:rowId xmlns:a16="http://schemas.microsoft.com/office/drawing/2014/main" val="3560998691"/>
                  </a:ext>
                </a:extLst>
              </a:tr>
              <a:tr h="566057">
                <a:tc>
                  <a:txBody>
                    <a:bodyPr/>
                    <a:lstStyle/>
                    <a:p>
                      <a:r>
                        <a:rPr lang="en-IN" sz="1700" b="0">
                          <a:solidFill>
                            <a:srgbClr val="24342C"/>
                          </a:solidFill>
                          <a:latin typeface="Segoe UI" panose="020B0502040204020203" pitchFamily="34" charset="0"/>
                        </a:rPr>
                        <a:t>409</a:t>
                      </a:r>
                    </a:p>
                  </a:txBody>
                  <a:tcPr marL="127000" marR="127000" marT="88900" marB="63500">
                    <a:solidFill>
                      <a:srgbClr val="F8F5EE"/>
                    </a:solidFill>
                  </a:tcPr>
                </a:tc>
                <a:tc>
                  <a:txBody>
                    <a:bodyPr/>
                    <a:lstStyle/>
                    <a:p>
                      <a:r>
                        <a:rPr lang="en-US" sz="1700" b="0">
                          <a:solidFill>
                            <a:srgbClr val="24342C"/>
                          </a:solidFill>
                          <a:latin typeface="Segoe UI" panose="020B0502040204020203" pitchFamily="34" charset="0"/>
                        </a:rPr>
                        <a:t>Unavailable product or changed cart</a:t>
                      </a:r>
                      <a:endParaRPr lang="en-IN" sz="1700" b="0">
                        <a:solidFill>
                          <a:srgbClr val="24342C"/>
                        </a:solidFill>
                        <a:latin typeface="Segoe UI" panose="020B0502040204020203" pitchFamily="34" charset="0"/>
                      </a:endParaRP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Review the bag</a:t>
                      </a:r>
                    </a:p>
                  </a:txBody>
                  <a:tcPr marL="127000" marR="127000" marT="88900" marB="63500">
                    <a:solidFill>
                      <a:srgbClr val="F8F5EE"/>
                    </a:solidFill>
                  </a:tcPr>
                </a:tc>
                <a:extLst>
                  <a:ext uri="{0D108BD9-81ED-4DB2-BD59-A6C34878D82A}">
                    <a16:rowId xmlns:a16="http://schemas.microsoft.com/office/drawing/2014/main" val="340315043"/>
                  </a:ext>
                </a:extLst>
              </a:tr>
              <a:tr h="566057">
                <a:tc>
                  <a:txBody>
                    <a:bodyPr/>
                    <a:lstStyle/>
                    <a:p>
                      <a:r>
                        <a:rPr lang="en-IN" sz="1700" b="0">
                          <a:solidFill>
                            <a:srgbClr val="24342C"/>
                          </a:solidFill>
                          <a:latin typeface="Segoe UI" panose="020B0502040204020203" pitchFamily="34" charset="0"/>
                        </a:rPr>
                        <a:t>422</a:t>
                      </a:r>
                    </a:p>
                  </a:txBody>
                  <a:tcPr marL="127000" marR="127000" marT="88900" marB="63500">
                    <a:solidFill>
                      <a:srgbClr val="F8F5EE"/>
                    </a:solidFill>
                  </a:tcPr>
                </a:tc>
                <a:tc>
                  <a:txBody>
                    <a:bodyPr/>
                    <a:lstStyle/>
                    <a:p>
                      <a:r>
                        <a:rPr lang="en-US" sz="1700" b="0">
                          <a:solidFill>
                            <a:srgbClr val="24342C"/>
                          </a:solidFill>
                          <a:latin typeface="Segoe UI" panose="020B0502040204020203" pitchFamily="34" charset="0"/>
                        </a:rPr>
                        <a:t>Invalid field or message limits</a:t>
                      </a:r>
                      <a:endParaRPr lang="en-IN" sz="1700" b="0">
                        <a:solidFill>
                          <a:srgbClr val="24342C"/>
                        </a:solidFill>
                        <a:latin typeface="Segoe UI" panose="020B0502040204020203" pitchFamily="34" charset="0"/>
                      </a:endParaRP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Correct the input</a:t>
                      </a:r>
                    </a:p>
                  </a:txBody>
                  <a:tcPr marL="127000" marR="127000" marT="88900" marB="63500">
                    <a:solidFill>
                      <a:srgbClr val="F8F5EE"/>
                    </a:solidFill>
                  </a:tcPr>
                </a:tc>
                <a:extLst>
                  <a:ext uri="{0D108BD9-81ED-4DB2-BD59-A6C34878D82A}">
                    <a16:rowId xmlns:a16="http://schemas.microsoft.com/office/drawing/2014/main" val="2295469974"/>
                  </a:ext>
                </a:extLst>
              </a:tr>
              <a:tr h="566057">
                <a:tc>
                  <a:txBody>
                    <a:bodyPr/>
                    <a:lstStyle/>
                    <a:p>
                      <a:r>
                        <a:rPr lang="en-IN" sz="1700" b="0">
                          <a:solidFill>
                            <a:srgbClr val="24342C"/>
                          </a:solidFill>
                          <a:latin typeface="Segoe UI" panose="020B0502040204020203" pitchFamily="34" charset="0"/>
                        </a:rPr>
                        <a:t>503</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Assistant provider failure / timeout</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Check bag before retry</a:t>
                      </a:r>
                    </a:p>
                  </a:txBody>
                  <a:tcPr marL="127000" marR="127000" marT="88900" marB="63500">
                    <a:solidFill>
                      <a:srgbClr val="F8F5EE"/>
                    </a:solidFill>
                  </a:tcPr>
                </a:tc>
                <a:extLst>
                  <a:ext uri="{0D108BD9-81ED-4DB2-BD59-A6C34878D82A}">
                    <a16:rowId xmlns:a16="http://schemas.microsoft.com/office/drawing/2014/main" val="2329180421"/>
                  </a:ext>
                </a:extLst>
              </a:tr>
              <a:tr h="566057">
                <a:tc>
                  <a:txBody>
                    <a:bodyPr/>
                    <a:lstStyle/>
                    <a:p>
                      <a:r>
                        <a:rPr lang="en-IN" sz="1700" b="0">
                          <a:solidFill>
                            <a:srgbClr val="24342C"/>
                          </a:solidFill>
                          <a:latin typeface="Segoe UI" panose="020B0502040204020203" pitchFamily="34" charset="0"/>
                        </a:rPr>
                        <a:t>502</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Backend proxy unavailable</a:t>
                      </a:r>
                    </a:p>
                  </a:txBody>
                  <a:tcPr marL="127000" marR="127000" marT="88900" marB="63500">
                    <a:solidFill>
                      <a:srgbClr val="F8F5EE"/>
                    </a:solidFill>
                  </a:tcPr>
                </a:tc>
                <a:tc>
                  <a:txBody>
                    <a:bodyPr/>
                    <a:lstStyle/>
                    <a:p>
                      <a:r>
                        <a:rPr lang="en-IN" sz="1700" b="0">
                          <a:solidFill>
                            <a:srgbClr val="24342C"/>
                          </a:solidFill>
                          <a:latin typeface="Segoe UI" panose="020B0502040204020203" pitchFamily="34" charset="0"/>
                        </a:rPr>
                        <a:t>Retry after connection recovers</a:t>
                      </a:r>
                    </a:p>
                  </a:txBody>
                  <a:tcPr marL="127000" marR="127000" marT="88900" marB="63500">
                    <a:solidFill>
                      <a:srgbClr val="F8F5EE"/>
                    </a:solidFill>
                  </a:tcPr>
                </a:tc>
                <a:extLst>
                  <a:ext uri="{0D108BD9-81ED-4DB2-BD59-A6C34878D82A}">
                    <a16:rowId xmlns:a16="http://schemas.microsoft.com/office/drawing/2014/main" val="4160114947"/>
                  </a:ext>
                </a:extLst>
              </a:tr>
            </a:tbl>
          </a:graphicData>
        </a:graphic>
      </p:graphicFrame>
    </p:spTree>
    <p:extLst>
      <p:ext uri="{BB962C8B-B14F-4D97-AF65-F5344CB8AC3E}">
        <p14:creationId xmlns:p14="http://schemas.microsoft.com/office/powerpoint/2010/main" val="1173447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F18515-9D67-8D7C-D5B3-F9DC319969AA}"/>
              </a:ext>
            </a:extLst>
          </p:cNvPr>
          <p:cNvSpPr txBox="1"/>
          <p:nvPr/>
        </p:nvSpPr>
        <p:spPr>
          <a:xfrm>
            <a:off x="609600" y="406400"/>
            <a:ext cx="10972800" cy="276999"/>
          </a:xfrm>
          <a:prstGeom prst="rect">
            <a:avLst/>
          </a:prstGeom>
          <a:noFill/>
        </p:spPr>
        <p:txBody>
          <a:bodyPr vert="horz" wrap="square" lIns="0" tIns="0" rIns="0" bIns="0" rtlCol="0">
            <a:noAutofit/>
          </a:bodyPr>
          <a:lstStyle/>
          <a:p>
            <a:pPr>
              <a:spcAft>
                <a:spcPts val="800"/>
              </a:spcAft>
            </a:pPr>
            <a:r>
              <a:rPr lang="en-IN" sz="3400" b="1">
                <a:solidFill>
                  <a:srgbClr val="24342C"/>
                </a:solidFill>
                <a:latin typeface="Segoe UI" panose="020B0502040204020203" pitchFamily="34" charset="0"/>
              </a:rPr>
              <a:t>Demo and next steps</a:t>
            </a:r>
          </a:p>
        </p:txBody>
      </p:sp>
      <p:sp>
        <p:nvSpPr>
          <p:cNvPr id="3" name="TextBox 2">
            <a:extLst>
              <a:ext uri="{FF2B5EF4-FFF2-40B4-BE49-F238E27FC236}">
                <a16:creationId xmlns:a16="http://schemas.microsoft.com/office/drawing/2014/main" id="{33583C61-2367-A88A-3E3F-DD78F12A8416}"/>
              </a:ext>
            </a:extLst>
          </p:cNvPr>
          <p:cNvSpPr txBox="1"/>
          <p:nvPr/>
        </p:nvSpPr>
        <p:spPr>
          <a:xfrm>
            <a:off x="635000" y="1193800"/>
            <a:ext cx="10922000" cy="276999"/>
          </a:xfrm>
          <a:prstGeom prst="rect">
            <a:avLst/>
          </a:prstGeom>
          <a:noFill/>
        </p:spPr>
        <p:txBody>
          <a:bodyPr vert="horz" wrap="square" lIns="0" tIns="0" rIns="0" bIns="0" rtlCol="0">
            <a:noAutofit/>
          </a:bodyPr>
          <a:lstStyle/>
          <a:p>
            <a:pPr>
              <a:spcAft>
                <a:spcPts val="800"/>
              </a:spcAft>
            </a:pPr>
            <a:r>
              <a:rPr lang="en-US" sz="1900">
                <a:solidFill>
                  <a:srgbClr val="5A655E"/>
                </a:solidFill>
                <a:latin typeface="Segoe UI" panose="020B0502040204020203" pitchFamily="34" charset="0"/>
              </a:rPr>
              <a:t>The current app is a local ecommerce demonstration</a:t>
            </a:r>
            <a:endParaRPr lang="en-IN" sz="1900">
              <a:solidFill>
                <a:srgbClr val="5A655E"/>
              </a:solidFill>
              <a:latin typeface="Segoe UI" panose="020B0502040204020203" pitchFamily="34" charset="0"/>
            </a:endParaRPr>
          </a:p>
        </p:txBody>
      </p:sp>
      <p:sp>
        <p:nvSpPr>
          <p:cNvPr id="4" name="TextBox 3">
            <a:extLst>
              <a:ext uri="{FF2B5EF4-FFF2-40B4-BE49-F238E27FC236}">
                <a16:creationId xmlns:a16="http://schemas.microsoft.com/office/drawing/2014/main" id="{1F5E7933-01E0-696A-602F-502BE578CB9A}"/>
              </a:ext>
            </a:extLst>
          </p:cNvPr>
          <p:cNvSpPr txBox="1"/>
          <p:nvPr/>
        </p:nvSpPr>
        <p:spPr>
          <a:xfrm>
            <a:off x="609600" y="6426200"/>
            <a:ext cx="3810000" cy="276999"/>
          </a:xfrm>
          <a:prstGeom prst="rect">
            <a:avLst/>
          </a:prstGeom>
          <a:noFill/>
        </p:spPr>
        <p:txBody>
          <a:bodyPr vert="horz" wrap="square" lIns="0" tIns="0" rIns="0" bIns="0" rtlCol="0">
            <a:noAutofit/>
          </a:bodyPr>
          <a:lstStyle/>
          <a:p>
            <a:pPr>
              <a:spcAft>
                <a:spcPts val="800"/>
              </a:spcAft>
            </a:pPr>
            <a:r>
              <a:rPr lang="en-IN" sz="1000">
                <a:solidFill>
                  <a:srgbClr val="5A655E"/>
                </a:solidFill>
                <a:latin typeface="Segoe UI" panose="020B0502040204020203" pitchFamily="34" charset="0"/>
              </a:rPr>
              <a:t>EVERYDAY</a:t>
            </a:r>
          </a:p>
        </p:txBody>
      </p:sp>
      <p:sp>
        <p:nvSpPr>
          <p:cNvPr id="5" name="TextBox 4">
            <a:extLst>
              <a:ext uri="{FF2B5EF4-FFF2-40B4-BE49-F238E27FC236}">
                <a16:creationId xmlns:a16="http://schemas.microsoft.com/office/drawing/2014/main" id="{136BB210-1463-FFE7-69FF-1149D21D33B5}"/>
              </a:ext>
            </a:extLst>
          </p:cNvPr>
          <p:cNvSpPr txBox="1"/>
          <p:nvPr/>
        </p:nvSpPr>
        <p:spPr>
          <a:xfrm>
            <a:off x="10922000" y="6413500"/>
            <a:ext cx="609600" cy="276999"/>
          </a:xfrm>
          <a:prstGeom prst="rect">
            <a:avLst/>
          </a:prstGeom>
          <a:noFill/>
        </p:spPr>
        <p:txBody>
          <a:bodyPr vert="horz" wrap="square" lIns="0" tIns="0" rIns="0" bIns="0" rtlCol="0">
            <a:noAutofit/>
          </a:bodyPr>
          <a:lstStyle/>
          <a:p>
            <a:pPr algn="r">
              <a:spcAft>
                <a:spcPts val="800"/>
              </a:spcAft>
            </a:pPr>
            <a:r>
              <a:rPr lang="en-IN" sz="1100">
                <a:solidFill>
                  <a:srgbClr val="5A655E"/>
                </a:solidFill>
                <a:latin typeface="Segoe UI" panose="020B0502040204020203" pitchFamily="34" charset="0"/>
              </a:rPr>
              <a:t>13</a:t>
            </a:r>
          </a:p>
        </p:txBody>
      </p:sp>
      <p:sp>
        <p:nvSpPr>
          <p:cNvPr id="6" name="TextBox 5">
            <a:extLst>
              <a:ext uri="{FF2B5EF4-FFF2-40B4-BE49-F238E27FC236}">
                <a16:creationId xmlns:a16="http://schemas.microsoft.com/office/drawing/2014/main" id="{42A0BBE5-6C16-BD92-3A18-432E66560171}"/>
              </a:ext>
            </a:extLst>
          </p:cNvPr>
          <p:cNvSpPr txBox="1"/>
          <p:nvPr/>
        </p:nvSpPr>
        <p:spPr>
          <a:xfrm>
            <a:off x="609600" y="1993900"/>
            <a:ext cx="5080000" cy="276999"/>
          </a:xfrm>
          <a:prstGeom prst="rect">
            <a:avLst/>
          </a:prstGeom>
          <a:noFill/>
        </p:spPr>
        <p:txBody>
          <a:bodyPr vert="horz" wrap="square" lIns="0" tIns="0" rIns="0" bIns="0" rtlCol="0">
            <a:noAutofit/>
          </a:bodyPr>
          <a:lstStyle/>
          <a:p>
            <a:pPr>
              <a:spcAft>
                <a:spcPts val="800"/>
              </a:spcAft>
            </a:pPr>
            <a:r>
              <a:rPr lang="en-IN" sz="2600" b="1">
                <a:solidFill>
                  <a:srgbClr val="AE553E"/>
                </a:solidFill>
                <a:latin typeface="Segoe UI" panose="020B0502040204020203" pitchFamily="34" charset="0"/>
              </a:rPr>
              <a:t>Demo sequence</a:t>
            </a:r>
          </a:p>
        </p:txBody>
      </p:sp>
      <p:sp>
        <p:nvSpPr>
          <p:cNvPr id="7" name="TextBox 6">
            <a:extLst>
              <a:ext uri="{FF2B5EF4-FFF2-40B4-BE49-F238E27FC236}">
                <a16:creationId xmlns:a16="http://schemas.microsoft.com/office/drawing/2014/main" id="{50CB4F76-6D04-7FD0-86CB-6BAF08F9B830}"/>
              </a:ext>
            </a:extLst>
          </p:cNvPr>
          <p:cNvSpPr txBox="1"/>
          <p:nvPr/>
        </p:nvSpPr>
        <p:spPr>
          <a:xfrm>
            <a:off x="609600" y="2717800"/>
            <a:ext cx="5295900" cy="276999"/>
          </a:xfrm>
          <a:prstGeom prst="rect">
            <a:avLst/>
          </a:prstGeom>
          <a:noFill/>
        </p:spPr>
        <p:txBody>
          <a:bodyPr vert="horz" wrap="square" lIns="0" tIns="0" rIns="0" bIns="0" rtlCol="0">
            <a:noAutofit/>
          </a:bodyPr>
          <a:lstStyle/>
          <a:p>
            <a:pPr>
              <a:spcAft>
                <a:spcPts val="800"/>
              </a:spcAft>
            </a:pPr>
            <a:r>
              <a:rPr lang="en-US" sz="2100">
                <a:solidFill>
                  <a:srgbClr val="24342C"/>
                </a:solidFill>
                <a:latin typeface="Segoe UI" panose="020B0502040204020203" pitchFamily="34" charset="0"/>
              </a:rPr>
              <a:t>Start backend and frontend
Browse the mixed sample catalog
Sign in and ask to add a mug
Review the bag; save an unpaid order
Open My orders</a:t>
            </a:r>
            <a:endParaRPr lang="en-IN" sz="2100">
              <a:solidFill>
                <a:srgbClr val="24342C"/>
              </a:solidFill>
              <a:latin typeface="Segoe UI" panose="020B0502040204020203" pitchFamily="34" charset="0"/>
            </a:endParaRPr>
          </a:p>
        </p:txBody>
      </p:sp>
      <p:sp>
        <p:nvSpPr>
          <p:cNvPr id="8" name="TextBox 7">
            <a:extLst>
              <a:ext uri="{FF2B5EF4-FFF2-40B4-BE49-F238E27FC236}">
                <a16:creationId xmlns:a16="http://schemas.microsoft.com/office/drawing/2014/main" id="{188D2961-67A1-B5DF-97A1-924D07C70A79}"/>
              </a:ext>
            </a:extLst>
          </p:cNvPr>
          <p:cNvSpPr txBox="1"/>
          <p:nvPr/>
        </p:nvSpPr>
        <p:spPr>
          <a:xfrm>
            <a:off x="6680200" y="1993900"/>
            <a:ext cx="4889500" cy="276999"/>
          </a:xfrm>
          <a:prstGeom prst="rect">
            <a:avLst/>
          </a:prstGeom>
          <a:noFill/>
        </p:spPr>
        <p:txBody>
          <a:bodyPr vert="horz" wrap="square" lIns="0" tIns="0" rIns="0" bIns="0" rtlCol="0">
            <a:noAutofit/>
          </a:bodyPr>
          <a:lstStyle/>
          <a:p>
            <a:pPr>
              <a:spcAft>
                <a:spcPts val="800"/>
              </a:spcAft>
            </a:pPr>
            <a:r>
              <a:rPr lang="en-IN" sz="2600" b="1">
                <a:solidFill>
                  <a:srgbClr val="AE553E"/>
                </a:solidFill>
                <a:latin typeface="Segoe UI" panose="020B0502040204020203" pitchFamily="34" charset="0"/>
              </a:rPr>
              <a:t>Future work</a:t>
            </a:r>
          </a:p>
        </p:txBody>
      </p:sp>
      <p:sp>
        <p:nvSpPr>
          <p:cNvPr id="9" name="TextBox 8">
            <a:extLst>
              <a:ext uri="{FF2B5EF4-FFF2-40B4-BE49-F238E27FC236}">
                <a16:creationId xmlns:a16="http://schemas.microsoft.com/office/drawing/2014/main" id="{94F44F41-5871-14CC-5012-4A53D627EF46}"/>
              </a:ext>
            </a:extLst>
          </p:cNvPr>
          <p:cNvSpPr txBox="1"/>
          <p:nvPr/>
        </p:nvSpPr>
        <p:spPr>
          <a:xfrm>
            <a:off x="6680200" y="2717800"/>
            <a:ext cx="4902200" cy="276999"/>
          </a:xfrm>
          <a:prstGeom prst="rect">
            <a:avLst/>
          </a:prstGeom>
          <a:noFill/>
        </p:spPr>
        <p:txBody>
          <a:bodyPr vert="horz" wrap="square" lIns="0" tIns="0" rIns="0" bIns="0" rtlCol="0">
            <a:noAutofit/>
          </a:bodyPr>
          <a:lstStyle/>
          <a:p>
            <a:pPr>
              <a:spcAft>
                <a:spcPts val="800"/>
              </a:spcAft>
            </a:pPr>
            <a:r>
              <a:rPr lang="en-US" sz="2100">
                <a:solidFill>
                  <a:srgbClr val="24342C"/>
                </a:solidFill>
                <a:latin typeface="Segoe UI" panose="020B0502040204020203" pitchFamily="34" charset="0"/>
              </a:rPr>
              <a:t>Administrator access for catalog writes
Product photos and descriptions
Persistent chat and action retry IDs
Verified payments and stock quantities</a:t>
            </a:r>
            <a:endParaRPr lang="en-IN" sz="2100">
              <a:solidFill>
                <a:srgbClr val="24342C"/>
              </a:solidFill>
              <a:latin typeface="Segoe UI" panose="020B0502040204020203" pitchFamily="34" charset="0"/>
            </a:endParaRPr>
          </a:p>
        </p:txBody>
      </p:sp>
    </p:spTree>
    <p:extLst>
      <p:ext uri="{BB962C8B-B14F-4D97-AF65-F5344CB8AC3E}">
        <p14:creationId xmlns:p14="http://schemas.microsoft.com/office/powerpoint/2010/main" val="2145913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1700</Words>
  <Application>Microsoft Office PowerPoint</Application>
  <PresentationFormat>Custom</PresentationFormat>
  <Paragraphs>222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 Sharma</dc:creator>
  <cp:lastModifiedBy>Parth Sharma</cp:lastModifiedBy>
  <cp:revision>1</cp:revision>
  <dcterms:created xsi:type="dcterms:W3CDTF">2026-10-11T14:40:07Z</dcterms:created>
  <dcterms:modified xsi:type="dcterms:W3CDTF">2026-10-11T14:40:07Z</dcterms:modified>
</cp:coreProperties>
</file>